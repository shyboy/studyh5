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0.5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各位老师、同学们，大家好！我是学生科党支部书记周央红。今天和大家分享的书叫《望山河》，我的分享题目是《一栋楼、一幢房、一只船》。接下来大约三十分钟，我们一起读书、一起回望。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1.5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开始之前，先问大家一个问题：如果让你用一个物件来代表中国共产党的起点，你会想到什么？（停顿，邀请两三位老师、同学回答，根据现场回应简单回应）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《望山河》这本书里给了三个答案——一栋楼、一幢房、一只船。一栋楼，是北京的北大红楼；一幢房，是上海的石库门；一只船，是嘉兴南湖上的红船。今天我就从这三个物件说起。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先简单介绍一下这本书。《望山河》由湖南人民出版社出版，陈晋主编。全书三十七篇，一个地方写一篇，每一篇都对应着党的历史上一个重要的地方。这本书入选了今年一、二月的“中国好书”。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三十七篇内容很丰富，今天时间有限，我选读的是前三篇：李舫写北大红楼，张军锋写上海石库门，梁衡写南湖红船。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为什么选这三篇？因为三篇连起来，正好是中国共产党从思想准备到组织诞生、再到扬帆启航的一段路。第一站，北大红楼，是新思想传播的地方，是“思想准备”；第二站，上海石库门，中共一大在这里开幕，是“组织诞生”；第三站，嘉兴南湖，大会在一条游船上闭幕，党从这里“扬帆启航”。一栋楼、一幢房、一只船，串起了一段从无到有的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这本书为什么叫“望山河”？主编陈晋在序言中有一句话：“所谓望，就是走近历史坐标、体会历史坐标、抒写历史坐标。”我很喜欢这句话，它也正好是今天分享的结构。每一个坐标，我们都分三步走：先走近，听一个故事；再体会，说说我的感悟；最后抒写，看看落到我们学生科、落到我们每个同学身上，可以做些什么。下面我们就一起走近第一个坐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0.3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第一节，一栋楼——北大红楼。这一篇的作者是李舫。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1.2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北大红楼1918年落成，因为整栋楼用红砖砌成，所以大家叫它“红楼”。当年北京大学的校部、文科和图书馆都在这栋楼里。这里是新文化运动的重要阵地；1919年五四运动，北大的学生就是从红楼后面的操场集合出发的。李大钊同志在这里传播马克思主义，1920年，他在红楼里指导成立了北京共产党小组。可以说，很多新思想的火种，就是从这栋楼里点燃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1.2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在这栋楼里，书中讲了这样一个人。1918年秋天，一位二十五岁的青年人走进北大红楼，在图书馆第二阅览室当助理员，每月的薪水是八块大洋。他的工作很简单，就是登记来馆读报者的姓名。大家可以想象一下，每天坐在阅览室门口，一个一个记下来访者的名字——这份工作，确实很不起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1.2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他后来回忆这段日子时说：“我的职位低微，大家都不理我……他们都是些大忙人，没有时间听一个图书馆助理员说南方话。”这段话出自斯诺的《西行漫记》。说这话的青年助理员，就是毛泽东。（停顿）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一个后来带领中国人民站起来的人，当年在这栋楼里，是一个“大家都不理”的小职员。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读到这里，我的感悟是：一个后来改变中国的人，当年也有过被忽视、说不上话的时候。但他没有因此停下，没有因为没人理就放弃，而是在没人留意的地方把事做好。很多了不起的成长，都是在没人看见的时候完成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1.2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同学们，你们现在学的每一项技能、完成的每一次实训，就像当年那位图书馆助理员登记每一个名字一样——看似不起眼，可能也没有人每天表扬你。但坚持做下去，就会成为你未来的底气。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请大家想一想：你有没有一件看似不起眼、却一直在坚持的事？（可请一两位同学简单分享）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1.5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回到我们的工作。我们学校是技工学校，不少同学在初中阶段很少被表扬，进了校门还是低着头。我常想，他们需要的不是一句鼓励，是有人真正看见他。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所以支部的做法是党员联系学生：每名党员固定联系一到两名重点关注的同学，定期谈心谈话，问学习、问家里、问心里的打算。这类同学大多安静内敛，不会主动来找人，只有靠人去找——把话说到他心里去，帮他把自信找回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0.3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第二节，一幢房——上海石库门。这一篇的作者是张军锋。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1.2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1921年7月23日晚上，上海法租界望志路106号，也就是今天的兴业路76号。十三位年轻人走进一间客厅开会，这间客厅只有十八平方米，可能还没有我们一间教室的一半大。他们代表着全国五十多名党员，平均年龄二十八岁，最小的才十九岁。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同学们，十九岁，和在座很多同学差不多大。就是这样一群年轻人，在这间小小的客厅里，开了一个改变中国命运的会。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这次会议并不太平。会开到第八天晚上，法租界巡捕房的密探突然闯了进来，会议被迫中断，代表们迅速撤离。但会没有就此停下——最后一天，会议转移到了嘉兴南湖的一条游船上继续进行。会场被闯，他们换个地方，也要把会开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1.2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书里还有一个细节，特别打动我。何叔衡和毛泽东从长沙动身去上海开会的那天，何叔衡的好友谢觉哉在日记里只写了一句：“午后6时叔衡往上海，偕行者润之，赴全国○○○○○之招。”日记里，他画了五个圈。这五个圈，指的就是“共产主义者”。为什么不写出来？因为在当时，这几个字是不能写出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我的感悟是：一群人做着最危险的事，落笔时却连几个字都不敢写全。他们不知道前路如何，不知道会不会成功，甚至不知道自己会不会有危险，却都到了场、留了下来。所以我想，信仰的分量，不在场面宏大时，而在处境艰难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1.2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同学们，你们在学校里也会遇到难的时候——考试没过、技能练不好、跟同学闹了别扭。这些事放在一辈子里也许不算大，但在当下，确实会让人很难受。这些时候能不能沉住气、不放弃，往往决定了你能走多远。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也请大家想一想：最近一次“难的时候”，你是怎么扛过来的？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1.5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放在学生科的工作上，这份分量就是“到场”。第一，帮扶台账不能只挂个名字，要动态更新、摸排到人，每个名字背后都是一个具体的孩子、一个具体的家庭。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第二，我们支部有一项做法叫“行走的党日”，就是不在会议室里关起门搞，把党日放到学生中间去：学生报到、宿舍走访、考前和实习前的谈心，这些日常场景里，党员该在的时候要在。学生的困难是一件一件解决的，做工作的人也得一个一个到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0.3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第三节，一只船——南湖红船。这一篇的作者是梁衡。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1.2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梁衡专程赶到嘉兴南湖，站在船边写下：“这是一只多么小的船啊，要低头弯腰才能进入舱内，刚能容下十几个人促膝侧坐。”他又问：“我真不敢想，我们轰轰烈烈、排山倒海的八十年就是从这条船舱里倾泻出来的吗？”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一只要低头弯腰才能进去的小船，和一段轰轰烈烈的历史，这种反差，让人感慨。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1.2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那么，会议是怎么转移到这条船上的？这就要说到一个人——王会悟。她是李达的夫人，嘉兴人，熟悉当地情况，把会议转移到南湖就是她的提议。开会那天，她在船头放哨。下午，湖面上驶过一条汽艇，她疑心是警情，赶紧发暗号，船舱里立刻响起一片麻将声。就这样，会议在船上继续进行，完成了全部议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1.2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就在这条小船上，大会通过了党的第一个纲领，选举产生了中央局，宣告中国共产党正式成立。从此，这条船有了一个响亮的名字——“红船”。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2005年，习近平同志把红船精神概括为：开天辟地、敢为人先的首创精神；坚定理想、百折不挠的奋斗精神；立党为公、忠诚为民的奉献精神。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我的感悟是：那么大的事，是从一条小船里开始的，是从一个放哨的人、一个提议的人开始的。各人做好自己那一份，事情才成。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育人也是一样：学生的成长，靠的不是一次大会、一场活动，而是班级、宿舍这些最小单元里一次次的关注。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1.2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同学们，你们每个人在班级里、在宿舍里，也可以成为那个“放哨的人”——看到同学情绪不对，主动问一句；看到室友遇到困难，伸手帮一把。不需要什么惊天动地的事，一句问候、一次搭把手就够了。大事往往就是从这些小事里长出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1.3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回到我们的工作，育人说到底要走心。支部重点抓两件事：一是“行走的党日”，让学生在日常场景里看得见党员；二是党员联系学生，谈心谈话落到人头上，每次谈完有记录、有跟进，不走过场。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我自己也带个头，支部的学习体会先在党员中交流，用得上的班会素材再整理出来，不另起一套，不给大家增加负担。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1.2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我们一起回望一下今天走过的三个坐标。一栋楼，北大红楼，那位被忽视的图书馆助理员告诉我们：要在不起眼处坚持；对应到工作上，就是党员联系学生，让每个学生被看见。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一幢房，上海石库门，日记里的五个圈告诉我们：要在艰难处坚守；对应到工作上，就是行走的党日，党员一个一个到场。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一只船，南湖红船，船头放哨的人告诉我们：要在最小单元里担当；对应到工作上，就是谈心有记录、有跟进，育人要走心。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1.2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山河在望，坐标在心。陈晋在序言中说：“所谓望，就是走近历史坐标、体会历史坐标、抒写历史坐标。”今天我们走近了红楼、石库门和红船这三个坐标，接下来要做的，就是在自己的坐标上写好属于我们这一代人的那一笔。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同学们在校园里认真实训、彼此包容、直面挫折，老师们把每一件小事做细做实，守好自己那一份——这就是对红色精神最好的传承。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我的分享就到这里。最后留一个问题给大家：这三个坐标里，哪一个最触动你？欢迎大家一起交流。谢谢大家！（交流环节可根据现场时间灵活掌握）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（本页不讲，仅作图片署名）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jpg"/><Relationship Id="rId4" Type="http://schemas.openxmlformats.org/officeDocument/2006/relationships/image" Target="../media/image1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5" Type="http://schemas.openxmlformats.org/officeDocument/2006/relationships/image" Target="../media/image18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E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862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053535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3154680"/>
            <a:ext cx="4053535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一栋楼 · 北大红楼</a:t>
            </a:r>
            <a:endParaRPr sz="2200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0"/>
            <a:ext cx="4053535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69080" y="3154680"/>
            <a:ext cx="4053535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一幢房 · 上海石库门</a:t>
            </a:r>
            <a:endParaRPr sz="2200"/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0"/>
            <a:ext cx="4053535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38160" y="3154680"/>
            <a:ext cx="4053535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一只船 · 南湖红船</a:t>
            </a:r>
            <a:endParaRPr sz="2200"/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11277295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5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一栋楼、一幢房、一只船</a:t>
            </a:r>
            <a:endParaRPr sz="5600"/>
          </a:p>
        </p:txBody>
      </p:sp>
      <p:sp>
        <p:nvSpPr>
          <p:cNvPr id="10" name="TextBox 9"/>
          <p:cNvSpPr txBox="1"/>
          <p:nvPr/>
        </p:nvSpPr>
        <p:spPr>
          <a:xfrm>
            <a:off x="457200" y="4983480"/>
            <a:ext cx="11277295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——《望山河》前三篇读书分享</a:t>
            </a:r>
            <a:endParaRPr sz="3000"/>
          </a:p>
        </p:txBody>
      </p:sp>
      <p:sp>
        <p:nvSpPr>
          <p:cNvPr id="11" name="TextBox 10"/>
          <p:cNvSpPr txBox="1"/>
          <p:nvPr/>
        </p:nvSpPr>
        <p:spPr>
          <a:xfrm>
            <a:off x="457200" y="5715000"/>
            <a:ext cx="11277295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分享人：周央红（学生科党支部书记）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开场一问</a:t>
            </a:r>
            <a:endParaRPr sz="3600"/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515600" cy="2103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如果让你用</a:t>
            </a:r>
            <a:r>
              <a:rPr sz="40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一个物件</a:t>
            </a:r>
            <a:endParaRPr sz="4000"/>
          </a:p>
          <a:p>
            <a:pPr algn="l">
              <a:lnSpc>
                <a:spcPct val="115000"/>
              </a:lnSpc>
            </a:pPr>
            <a:r>
              <a:rPr sz="40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来代表中国共产党的起点，</a:t>
            </a:r>
            <a:endParaRPr sz="4000"/>
          </a:p>
          <a:p>
            <a:pPr algn="l">
              <a:lnSpc>
                <a:spcPct val="115000"/>
              </a:lnSpc>
            </a:pPr>
            <a:r>
              <a:rPr sz="40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你会想到什么？</a:t>
            </a:r>
            <a:endParaRPr sz="4000"/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69080"/>
            <a:ext cx="3291840" cy="2057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" y="4343400"/>
            <a:ext cx="274320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一栋楼</a:t>
            </a:r>
            <a:endParaRPr sz="3000"/>
          </a:p>
        </p:txBody>
      </p:sp>
      <p:sp>
        <p:nvSpPr>
          <p:cNvPr id="10" name="TextBox 9"/>
          <p:cNvSpPr txBox="1"/>
          <p:nvPr/>
        </p:nvSpPr>
        <p:spPr>
          <a:xfrm>
            <a:off x="1051560" y="5029200"/>
            <a:ext cx="2743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F7E7C6"/>
                </a:solidFill>
                <a:latin typeface="Microsoft YaHei"/>
                <a:ea typeface="Microsoft YaHei"/>
                <a:cs typeface="Microsoft YaHei"/>
              </a:rPr>
              <a:t>北大红楼</a:t>
            </a:r>
            <a:endParaRPr sz="2200"/>
          </a:p>
        </p:txBody>
      </p:sp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4069080"/>
            <a:ext cx="3291840" cy="2057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63440" y="4343400"/>
            <a:ext cx="274320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一幢房</a:t>
            </a:r>
            <a:endParaRPr sz="3000"/>
          </a:p>
        </p:txBody>
      </p:sp>
      <p:sp>
        <p:nvSpPr>
          <p:cNvPr id="13" name="TextBox 12"/>
          <p:cNvSpPr txBox="1"/>
          <p:nvPr/>
        </p:nvSpPr>
        <p:spPr>
          <a:xfrm>
            <a:off x="4663440" y="5029200"/>
            <a:ext cx="2743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F7E7C6"/>
                </a:solidFill>
                <a:latin typeface="Microsoft YaHei"/>
                <a:ea typeface="Microsoft YaHei"/>
                <a:cs typeface="Microsoft YaHei"/>
              </a:rPr>
              <a:t>上海石库门</a:t>
            </a:r>
            <a:endParaRPr sz="2200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4069080"/>
            <a:ext cx="3291840" cy="2057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75320" y="4343400"/>
            <a:ext cx="274320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一只船</a:t>
            </a:r>
            <a:endParaRPr sz="3000"/>
          </a:p>
        </p:txBody>
      </p:sp>
      <p:sp>
        <p:nvSpPr>
          <p:cNvPr id="16" name="TextBox 15"/>
          <p:cNvSpPr txBox="1"/>
          <p:nvPr/>
        </p:nvSpPr>
        <p:spPr>
          <a:xfrm>
            <a:off x="8275320" y="5029200"/>
            <a:ext cx="2743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F7E7C6"/>
                </a:solidFill>
                <a:latin typeface="Microsoft YaHei"/>
                <a:ea typeface="Microsoft YaHei"/>
                <a:cs typeface="Microsoft YaHei"/>
              </a:rPr>
              <a:t>南湖红船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认识这本书：《望山河》</a:t>
            </a:r>
            <a:endParaRPr sz="3600"/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2000"/>
          </a:p>
        </p:txBody>
      </p:sp>
      <p:sp>
        <p:nvSpPr>
          <p:cNvPr id="7" name="Rectangle 6"/>
          <p:cNvSpPr/>
          <p:nvPr/>
        </p:nvSpPr>
        <p:spPr>
          <a:xfrm>
            <a:off x="1097280" y="1874519"/>
            <a:ext cx="2743200" cy="402336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34440" y="2011680"/>
            <a:ext cx="2468880" cy="3749039"/>
          </a:xfrm>
          <a:prstGeom prst="rect">
            <a:avLst/>
          </a:prstGeom>
          <a:noFill/>
          <a:ln w="1905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2743200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54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望</a:t>
            </a:r>
            <a:endParaRPr sz="5400"/>
          </a:p>
          <a:p>
            <a:pPr algn="ctr">
              <a:lnSpc>
                <a:spcPct val="100000"/>
              </a:lnSpc>
            </a:pPr>
            <a:r>
              <a:rPr sz="54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山</a:t>
            </a:r>
            <a:endParaRPr sz="5400"/>
          </a:p>
          <a:p>
            <a:pPr algn="ctr">
              <a:lnSpc>
                <a:spcPct val="100000"/>
              </a:lnSpc>
            </a:pPr>
            <a:r>
              <a:rPr sz="54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河</a:t>
            </a:r>
            <a:endParaRPr sz="5400"/>
          </a:p>
        </p:txBody>
      </p:sp>
      <p:sp>
        <p:nvSpPr>
          <p:cNvPr id="10" name="TextBox 9"/>
          <p:cNvSpPr txBox="1"/>
          <p:nvPr/>
        </p:nvSpPr>
        <p:spPr>
          <a:xfrm>
            <a:off x="1097280" y="4800600"/>
            <a:ext cx="27432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陈晋 主编</a:t>
            </a:r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1097280" y="5212080"/>
            <a:ext cx="27432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湖南人民出版社</a:t>
            </a:r>
            <a:endParaRPr sz="2000"/>
          </a:p>
        </p:txBody>
      </p:sp>
      <p:sp>
        <p:nvSpPr>
          <p:cNvPr id="12" name="Rounded Rectangle 11"/>
          <p:cNvSpPr/>
          <p:nvPr/>
        </p:nvSpPr>
        <p:spPr>
          <a:xfrm>
            <a:off x="4572000" y="1993392"/>
            <a:ext cx="1188720" cy="512064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993392"/>
            <a:ext cx="118872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出版</a:t>
            </a:r>
            <a:endParaRPr sz="2200"/>
          </a:p>
        </p:txBody>
      </p:sp>
      <p:sp>
        <p:nvSpPr>
          <p:cNvPr id="14" name="TextBox 13"/>
          <p:cNvSpPr txBox="1"/>
          <p:nvPr/>
        </p:nvSpPr>
        <p:spPr>
          <a:xfrm>
            <a:off x="6035040" y="1920240"/>
            <a:ext cx="539496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湖南人民出版社</a:t>
            </a:r>
            <a:endParaRPr sz="2600"/>
          </a:p>
        </p:txBody>
      </p:sp>
      <p:sp>
        <p:nvSpPr>
          <p:cNvPr id="15" name="Rounded Rectangle 14"/>
          <p:cNvSpPr/>
          <p:nvPr/>
        </p:nvSpPr>
        <p:spPr>
          <a:xfrm>
            <a:off x="4572000" y="2779776"/>
            <a:ext cx="1188720" cy="512064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779776"/>
            <a:ext cx="118872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主编</a:t>
            </a:r>
            <a:endParaRPr sz="2200"/>
          </a:p>
        </p:txBody>
      </p:sp>
      <p:sp>
        <p:nvSpPr>
          <p:cNvPr id="17" name="TextBox 16"/>
          <p:cNvSpPr txBox="1"/>
          <p:nvPr/>
        </p:nvSpPr>
        <p:spPr>
          <a:xfrm>
            <a:off x="6035040" y="2706624"/>
            <a:ext cx="539496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陈晋</a:t>
            </a:r>
            <a:endParaRPr sz="2600"/>
          </a:p>
        </p:txBody>
      </p:sp>
      <p:sp>
        <p:nvSpPr>
          <p:cNvPr id="18" name="Rounded Rectangle 17"/>
          <p:cNvSpPr/>
          <p:nvPr/>
        </p:nvSpPr>
        <p:spPr>
          <a:xfrm>
            <a:off x="4572000" y="3566160"/>
            <a:ext cx="1188720" cy="512064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566160"/>
            <a:ext cx="118872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体例</a:t>
            </a:r>
            <a:endParaRPr sz="2200"/>
          </a:p>
        </p:txBody>
      </p:sp>
      <p:sp>
        <p:nvSpPr>
          <p:cNvPr id="20" name="TextBox 19"/>
          <p:cNvSpPr txBox="1"/>
          <p:nvPr/>
        </p:nvSpPr>
        <p:spPr>
          <a:xfrm>
            <a:off x="6035040" y="3493008"/>
            <a:ext cx="539496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全书三十七篇，一个地方一篇</a:t>
            </a:r>
            <a:endParaRPr sz="2600"/>
          </a:p>
        </p:txBody>
      </p:sp>
      <p:sp>
        <p:nvSpPr>
          <p:cNvPr id="21" name="Rounded Rectangle 20"/>
          <p:cNvSpPr/>
          <p:nvPr/>
        </p:nvSpPr>
        <p:spPr>
          <a:xfrm>
            <a:off x="4572000" y="4352544"/>
            <a:ext cx="1188720" cy="512064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352544"/>
            <a:ext cx="118872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荣誉</a:t>
            </a:r>
            <a:endParaRPr sz="2200"/>
          </a:p>
        </p:txBody>
      </p:sp>
      <p:sp>
        <p:nvSpPr>
          <p:cNvPr id="23" name="TextBox 22"/>
          <p:cNvSpPr txBox="1"/>
          <p:nvPr/>
        </p:nvSpPr>
        <p:spPr>
          <a:xfrm>
            <a:off x="6035040" y="4279392"/>
            <a:ext cx="539496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入选今年一、二月“中国好书”</a:t>
            </a:r>
            <a:endParaRPr sz="2600"/>
          </a:p>
        </p:txBody>
      </p:sp>
      <p:sp>
        <p:nvSpPr>
          <p:cNvPr id="24" name="Rounded Rectangle 23"/>
          <p:cNvSpPr/>
          <p:nvPr/>
        </p:nvSpPr>
        <p:spPr>
          <a:xfrm>
            <a:off x="4572000" y="5138928"/>
            <a:ext cx="1188720" cy="512064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5138928"/>
            <a:ext cx="118872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选读</a:t>
            </a:r>
            <a:endParaRPr sz="2200"/>
          </a:p>
        </p:txBody>
      </p:sp>
      <p:sp>
        <p:nvSpPr>
          <p:cNvPr id="26" name="TextBox 25"/>
          <p:cNvSpPr txBox="1"/>
          <p:nvPr/>
        </p:nvSpPr>
        <p:spPr>
          <a:xfrm>
            <a:off x="6035040" y="5065776"/>
            <a:ext cx="539496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前三篇：红楼、石库门、红船</a:t>
            </a:r>
            <a:endParaRPr sz="2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三篇文章，三个坐标</a:t>
            </a:r>
            <a:endParaRPr sz="3600"/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sz="2000"/>
          </a:p>
        </p:txBody>
      </p:sp>
      <p:sp>
        <p:nvSpPr>
          <p:cNvPr id="7" name="Rectangle 6"/>
          <p:cNvSpPr/>
          <p:nvPr/>
        </p:nvSpPr>
        <p:spPr>
          <a:xfrm>
            <a:off x="1280160" y="3264408"/>
            <a:ext cx="960120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39" y="1828800"/>
            <a:ext cx="3291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1918—1920</a:t>
            </a:r>
            <a:endParaRPr sz="2200"/>
          </a:p>
        </p:txBody>
      </p:sp>
      <p:sp>
        <p:nvSpPr>
          <p:cNvPr id="9" name="Rectangle 8"/>
          <p:cNvSpPr/>
          <p:nvPr/>
        </p:nvSpPr>
        <p:spPr>
          <a:xfrm>
            <a:off x="1874519" y="2743200"/>
            <a:ext cx="1097280" cy="1097280"/>
          </a:xfrm>
          <a:prstGeom prst="rect">
            <a:avLst/>
          </a:prstGeom>
          <a:solidFill>
            <a:srgbClr val="9E1B1B"/>
          </a:solidFill>
          <a:ln w="3175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2302" y="2830982"/>
            <a:ext cx="921715" cy="921715"/>
          </a:xfrm>
          <a:prstGeom prst="rect">
            <a:avLst/>
          </a:prstGeom>
          <a:noFill/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19" y="2743200"/>
            <a:ext cx="1097280" cy="10972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47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楼</a:t>
            </a:r>
            <a:endParaRPr sz="4700"/>
          </a:p>
        </p:txBody>
      </p:sp>
      <p:sp>
        <p:nvSpPr>
          <p:cNvPr id="12" name="TextBox 11"/>
          <p:cNvSpPr txBox="1"/>
          <p:nvPr/>
        </p:nvSpPr>
        <p:spPr>
          <a:xfrm>
            <a:off x="777239" y="3977639"/>
            <a:ext cx="32918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思想准备</a:t>
            </a:r>
            <a:endParaRPr sz="3000"/>
          </a:p>
        </p:txBody>
      </p:sp>
      <p:sp>
        <p:nvSpPr>
          <p:cNvPr id="13" name="TextBox 12"/>
          <p:cNvSpPr txBox="1"/>
          <p:nvPr/>
        </p:nvSpPr>
        <p:spPr>
          <a:xfrm>
            <a:off x="777239" y="4526280"/>
            <a:ext cx="3291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李舫 · 北大红楼</a:t>
            </a:r>
            <a:endParaRPr sz="2200"/>
          </a:p>
        </p:txBody>
      </p:sp>
      <p:sp>
        <p:nvSpPr>
          <p:cNvPr id="14" name="TextBox 13"/>
          <p:cNvSpPr txBox="1"/>
          <p:nvPr/>
        </p:nvSpPr>
        <p:spPr>
          <a:xfrm>
            <a:off x="4434840" y="1828800"/>
            <a:ext cx="3291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1921年7月</a:t>
            </a:r>
            <a:endParaRPr sz="2200"/>
          </a:p>
        </p:txBody>
      </p:sp>
      <p:sp>
        <p:nvSpPr>
          <p:cNvPr id="15" name="Rectangle 14"/>
          <p:cNvSpPr/>
          <p:nvPr/>
        </p:nvSpPr>
        <p:spPr>
          <a:xfrm>
            <a:off x="5532120" y="2743200"/>
            <a:ext cx="1097280" cy="1097280"/>
          </a:xfrm>
          <a:prstGeom prst="rect">
            <a:avLst/>
          </a:prstGeom>
          <a:solidFill>
            <a:srgbClr val="9E1B1B"/>
          </a:solidFill>
          <a:ln w="3175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19902" y="2830982"/>
            <a:ext cx="921715" cy="921715"/>
          </a:xfrm>
          <a:prstGeom prst="rect">
            <a:avLst/>
          </a:prstGeom>
          <a:noFill/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0" y="2743200"/>
            <a:ext cx="1097280" cy="10972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47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房</a:t>
            </a:r>
            <a:endParaRPr sz="4700"/>
          </a:p>
        </p:txBody>
      </p:sp>
      <p:sp>
        <p:nvSpPr>
          <p:cNvPr id="18" name="TextBox 17"/>
          <p:cNvSpPr txBox="1"/>
          <p:nvPr/>
        </p:nvSpPr>
        <p:spPr>
          <a:xfrm>
            <a:off x="4434840" y="3977639"/>
            <a:ext cx="32918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组织诞生</a:t>
            </a:r>
            <a:endParaRPr sz="3000"/>
          </a:p>
        </p:txBody>
      </p:sp>
      <p:sp>
        <p:nvSpPr>
          <p:cNvPr id="19" name="TextBox 18"/>
          <p:cNvSpPr txBox="1"/>
          <p:nvPr/>
        </p:nvSpPr>
        <p:spPr>
          <a:xfrm>
            <a:off x="4434840" y="4526280"/>
            <a:ext cx="3291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张军锋 · 上海石库门</a:t>
            </a:r>
            <a:endParaRPr sz="2200"/>
          </a:p>
        </p:txBody>
      </p:sp>
      <p:sp>
        <p:nvSpPr>
          <p:cNvPr id="20" name="TextBox 19"/>
          <p:cNvSpPr txBox="1"/>
          <p:nvPr/>
        </p:nvSpPr>
        <p:spPr>
          <a:xfrm>
            <a:off x="8092440" y="1828800"/>
            <a:ext cx="3291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1921年夏</a:t>
            </a:r>
            <a:endParaRPr sz="2200"/>
          </a:p>
        </p:txBody>
      </p:sp>
      <p:sp>
        <p:nvSpPr>
          <p:cNvPr id="21" name="Rectangle 20"/>
          <p:cNvSpPr/>
          <p:nvPr/>
        </p:nvSpPr>
        <p:spPr>
          <a:xfrm>
            <a:off x="9189720" y="2743200"/>
            <a:ext cx="1097280" cy="1097280"/>
          </a:xfrm>
          <a:prstGeom prst="rect">
            <a:avLst/>
          </a:prstGeom>
          <a:solidFill>
            <a:srgbClr val="9E1B1B"/>
          </a:solidFill>
          <a:ln w="3175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77502" y="2830982"/>
            <a:ext cx="921715" cy="921715"/>
          </a:xfrm>
          <a:prstGeom prst="rect">
            <a:avLst/>
          </a:prstGeom>
          <a:noFill/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2743200"/>
            <a:ext cx="1097280" cy="10972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47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船</a:t>
            </a:r>
            <a:endParaRPr sz="4700"/>
          </a:p>
        </p:txBody>
      </p:sp>
      <p:sp>
        <p:nvSpPr>
          <p:cNvPr id="24" name="TextBox 23"/>
          <p:cNvSpPr txBox="1"/>
          <p:nvPr/>
        </p:nvSpPr>
        <p:spPr>
          <a:xfrm>
            <a:off x="8092440" y="3977639"/>
            <a:ext cx="32918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扬帆启航</a:t>
            </a:r>
            <a:endParaRPr sz="3000"/>
          </a:p>
        </p:txBody>
      </p:sp>
      <p:sp>
        <p:nvSpPr>
          <p:cNvPr id="25" name="TextBox 24"/>
          <p:cNvSpPr txBox="1"/>
          <p:nvPr/>
        </p:nvSpPr>
        <p:spPr>
          <a:xfrm>
            <a:off x="8092440" y="4526280"/>
            <a:ext cx="3291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梁衡 · 南湖红船</a:t>
            </a:r>
            <a:endParaRPr sz="2200"/>
          </a:p>
        </p:txBody>
      </p:sp>
      <p:sp>
        <p:nvSpPr>
          <p:cNvPr id="26" name="TextBox 25"/>
          <p:cNvSpPr txBox="1"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三篇连起来，正好是党</a:t>
            </a:r>
            <a:r>
              <a:rPr sz="24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从思想准备到组织诞生、再到扬帆启航</a:t>
            </a: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的一段路。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何为“望”：今天分享的三步</a:t>
            </a:r>
            <a:endParaRPr sz="3600"/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05</a:t>
            </a:r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91440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80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“</a:t>
            </a:r>
            <a:endParaRPr sz="8000"/>
          </a:p>
        </p:txBody>
      </p:sp>
      <p:sp>
        <p:nvSpPr>
          <p:cNvPr id="8" name="TextBox 7"/>
          <p:cNvSpPr txBox="1"/>
          <p:nvPr/>
        </p:nvSpPr>
        <p:spPr>
          <a:xfrm>
            <a:off x="1463040" y="1874519"/>
            <a:ext cx="969264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15000"/>
              </a:lnSpc>
            </a:pPr>
            <a:r>
              <a:rPr sz="3400" b="1">
                <a:solidFill>
                  <a:srgbClr val="7A1212"/>
                </a:solidFill>
                <a:latin typeface="KaiTi"/>
                <a:ea typeface="KaiTi"/>
                <a:cs typeface="KaiTi"/>
              </a:rPr>
              <a:t>所谓望，就是走近历史坐标、</a:t>
            </a:r>
            <a:endParaRPr sz="3400"/>
          </a:p>
          <a:p>
            <a:pPr algn="ctr">
              <a:lnSpc>
                <a:spcPct val="115000"/>
              </a:lnSpc>
            </a:pPr>
            <a:r>
              <a:rPr sz="3400" b="1">
                <a:solidFill>
                  <a:srgbClr val="7A1212"/>
                </a:solidFill>
                <a:latin typeface="KaiTi"/>
                <a:ea typeface="KaiTi"/>
                <a:cs typeface="KaiTi"/>
              </a:rPr>
              <a:t>体会历史坐标、抒写历史坐标。</a:t>
            </a:r>
            <a:endParaRPr sz="3400"/>
          </a:p>
        </p:txBody>
      </p:sp>
      <p:sp>
        <p:nvSpPr>
          <p:cNvPr id="9" name="TextBox 8"/>
          <p:cNvSpPr txBox="1"/>
          <p:nvPr/>
        </p:nvSpPr>
        <p:spPr>
          <a:xfrm>
            <a:off x="5852160" y="3200400"/>
            <a:ext cx="54864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2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——陈晋《望山河》序言</a:t>
            </a:r>
            <a:endParaRPr sz="2200"/>
          </a:p>
        </p:txBody>
      </p:sp>
      <p:sp>
        <p:nvSpPr>
          <p:cNvPr id="10" name="Rounded Rectangle 9"/>
          <p:cNvSpPr/>
          <p:nvPr/>
        </p:nvSpPr>
        <p:spPr>
          <a:xfrm>
            <a:off x="822960" y="3977639"/>
            <a:ext cx="3063240" cy="178308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30632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4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走近</a:t>
            </a:r>
            <a:endParaRPr sz="3400"/>
          </a:p>
        </p:txBody>
      </p:sp>
      <p:sp>
        <p:nvSpPr>
          <p:cNvPr id="12" name="TextBox 11"/>
          <p:cNvSpPr txBox="1"/>
          <p:nvPr/>
        </p:nvSpPr>
        <p:spPr>
          <a:xfrm>
            <a:off x="822960" y="4892040"/>
            <a:ext cx="30632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听三个故事</a:t>
            </a:r>
            <a:endParaRPr sz="2400"/>
          </a:p>
        </p:txBody>
      </p:sp>
      <p:sp>
        <p:nvSpPr>
          <p:cNvPr id="13" name="Right Arrow 12"/>
          <p:cNvSpPr/>
          <p:nvPr/>
        </p:nvSpPr>
        <p:spPr>
          <a:xfrm>
            <a:off x="3950208" y="4572000"/>
            <a:ext cx="512064" cy="502920"/>
          </a:xfrm>
          <a:prstGeom prst="rightArrow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26280" y="3977639"/>
            <a:ext cx="3063240" cy="178308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4114800"/>
            <a:ext cx="30632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4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体会</a:t>
            </a:r>
            <a:endParaRPr sz="3400"/>
          </a:p>
        </p:txBody>
      </p:sp>
      <p:sp>
        <p:nvSpPr>
          <p:cNvPr id="16" name="TextBox 15"/>
          <p:cNvSpPr txBox="1"/>
          <p:nvPr/>
        </p:nvSpPr>
        <p:spPr>
          <a:xfrm>
            <a:off x="4526280" y="4892040"/>
            <a:ext cx="30632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谈我的感悟</a:t>
            </a:r>
            <a:endParaRPr sz="2400"/>
          </a:p>
        </p:txBody>
      </p:sp>
      <p:sp>
        <p:nvSpPr>
          <p:cNvPr id="17" name="Right Arrow 16"/>
          <p:cNvSpPr/>
          <p:nvPr/>
        </p:nvSpPr>
        <p:spPr>
          <a:xfrm>
            <a:off x="7653528" y="4572000"/>
            <a:ext cx="512064" cy="502920"/>
          </a:xfrm>
          <a:prstGeom prst="rightArrow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0" y="3977639"/>
            <a:ext cx="3063240" cy="178308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4114800"/>
            <a:ext cx="30632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4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抒写</a:t>
            </a:r>
            <a:endParaRPr sz="3400"/>
          </a:p>
        </p:txBody>
      </p:sp>
      <p:sp>
        <p:nvSpPr>
          <p:cNvPr id="20" name="TextBox 19"/>
          <p:cNvSpPr txBox="1"/>
          <p:nvPr/>
        </p:nvSpPr>
        <p:spPr>
          <a:xfrm>
            <a:off x="8229600" y="4892040"/>
            <a:ext cx="30632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落到我们的行动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E1B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21792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43600" y="411480"/>
            <a:ext cx="6248095" cy="36576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6409944"/>
            <a:ext cx="6248095" cy="36576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914400"/>
            <a:ext cx="914400" cy="914400"/>
          </a:xfrm>
          <a:prstGeom prst="rect">
            <a:avLst/>
          </a:prstGeom>
          <a:solidFill>
            <a:srgbClr val="7A1212"/>
          </a:solidFill>
          <a:ln w="3175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73952" y="987552"/>
            <a:ext cx="768096" cy="768096"/>
          </a:xfrm>
          <a:prstGeom prst="rect">
            <a:avLst/>
          </a:prstGeom>
          <a:noFill/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914400"/>
            <a:ext cx="914400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楼</a:t>
            </a:r>
            <a:endParaRPr sz="3900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4864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第一节</a:t>
            </a:r>
            <a:endParaRPr sz="2800"/>
          </a:p>
        </p:txBody>
      </p:sp>
      <p:sp>
        <p:nvSpPr>
          <p:cNvPr id="9" name="TextBox 8"/>
          <p:cNvSpPr txBox="1"/>
          <p:nvPr/>
        </p:nvSpPr>
        <p:spPr>
          <a:xfrm>
            <a:off x="6400800" y="2606040"/>
            <a:ext cx="54864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一栋楼</a:t>
            </a:r>
            <a:endParaRPr sz="6600"/>
          </a:p>
        </p:txBody>
      </p:sp>
      <p:sp>
        <p:nvSpPr>
          <p:cNvPr id="10" name="TextBox 9"/>
          <p:cNvSpPr txBox="1"/>
          <p:nvPr/>
        </p:nvSpPr>
        <p:spPr>
          <a:xfrm>
            <a:off x="6400800" y="3886200"/>
            <a:ext cx="548640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000" b="0">
                <a:solidFill>
                  <a:srgbClr val="F7E7C6"/>
                </a:solidFill>
                <a:latin typeface="Microsoft YaHei"/>
                <a:ea typeface="Microsoft YaHei"/>
                <a:cs typeface="Microsoft YaHei"/>
              </a:rPr>
              <a:t>北大红楼 · 思想的准备</a:t>
            </a:r>
            <a:endParaRPr sz="3000"/>
          </a:p>
        </p:txBody>
      </p:sp>
      <p:sp>
        <p:nvSpPr>
          <p:cNvPr id="11" name="TextBox 10"/>
          <p:cNvSpPr txBox="1"/>
          <p:nvPr/>
        </p:nvSpPr>
        <p:spPr>
          <a:xfrm>
            <a:off x="6400800" y="4572000"/>
            <a:ext cx="54864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李舫 / 文</a:t>
            </a:r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F7E7C6"/>
                </a:solidFill>
                <a:latin typeface="Microsoft YaHei"/>
                <a:ea typeface="Microsoft YaHei"/>
                <a:cs typeface="Microsoft YaHei"/>
              </a:rPr>
              <a:t>06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6070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第一节 · 一栋楼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红楼：一座楼里的思想火种</a:t>
            </a:r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07</a:t>
            </a:r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51560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新文化运动的重要阵地，马克思主义在中国早期传播的重要场所</a:t>
            </a:r>
            <a:endParaRPr sz="2600"/>
          </a:p>
        </p:txBody>
      </p:sp>
      <p:sp>
        <p:nvSpPr>
          <p:cNvPr id="9" name="Rounded Rectangle 8"/>
          <p:cNvSpPr/>
          <p:nvPr/>
        </p:nvSpPr>
        <p:spPr>
          <a:xfrm>
            <a:off x="822960" y="2715768"/>
            <a:ext cx="1600200" cy="621792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15768"/>
            <a:ext cx="1600200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1918年</a:t>
            </a:r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2651760" y="2606040"/>
            <a:ext cx="5029200" cy="8412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红楼落成，因红砖外墙得名；北大校部、文科和图书馆设于此</a:t>
            </a:r>
            <a:endParaRPr sz="2400"/>
          </a:p>
        </p:txBody>
      </p:sp>
      <p:sp>
        <p:nvSpPr>
          <p:cNvPr id="12" name="Rectangle 11"/>
          <p:cNvSpPr/>
          <p:nvPr/>
        </p:nvSpPr>
        <p:spPr>
          <a:xfrm>
            <a:off x="2651760" y="3575304"/>
            <a:ext cx="5029200" cy="18288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3813048"/>
            <a:ext cx="1600200" cy="621792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813048"/>
            <a:ext cx="1600200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1919年</a:t>
            </a:r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2651760" y="3703320"/>
            <a:ext cx="5029200" cy="8412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五四运动中，北大学生从红楼后的操场集合出发</a:t>
            </a:r>
            <a:endParaRPr sz="2400"/>
          </a:p>
        </p:txBody>
      </p:sp>
      <p:sp>
        <p:nvSpPr>
          <p:cNvPr id="16" name="Rectangle 15"/>
          <p:cNvSpPr/>
          <p:nvPr/>
        </p:nvSpPr>
        <p:spPr>
          <a:xfrm>
            <a:off x="2651760" y="4672583"/>
            <a:ext cx="5029200" cy="18288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4910328"/>
            <a:ext cx="1600200" cy="621792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910328"/>
            <a:ext cx="1600200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1920年</a:t>
            </a:r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2651760" y="4800600"/>
            <a:ext cx="5029200" cy="8412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李大钊在这里指导成立北京共产党小组</a:t>
            </a:r>
            <a:endParaRPr sz="2400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2606040"/>
            <a:ext cx="3337560" cy="3200400"/>
          </a:xfrm>
          <a:prstGeom prst="rect">
            <a:avLst/>
          </a:prstGeom>
          <a:ln w="31750">
            <a:solidFill>
              <a:srgbClr val="C8A15A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8001000" y="5833872"/>
            <a:ext cx="33375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北大红楼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6070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第一节 · 一栋楼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一位不起眼的图书馆助理员</a:t>
            </a:r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08</a:t>
            </a:r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1918年秋，一位青年人走进北大红楼，在图书馆当助理员。</a:t>
            </a:r>
            <a:endParaRPr sz="2400"/>
          </a:p>
        </p:txBody>
      </p:sp>
      <p:sp>
        <p:nvSpPr>
          <p:cNvPr id="9" name="Rounded Rectangle 8"/>
          <p:cNvSpPr/>
          <p:nvPr/>
        </p:nvSpPr>
        <p:spPr>
          <a:xfrm>
            <a:off x="822960" y="2651760"/>
            <a:ext cx="2423160" cy="210312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651760"/>
            <a:ext cx="2423160" cy="9144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2423160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50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25岁</a:t>
            </a:r>
            <a:endParaRPr sz="5000"/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242316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年龄</a:t>
            </a:r>
            <a:endParaRPr sz="2200"/>
          </a:p>
        </p:txBody>
      </p:sp>
      <p:sp>
        <p:nvSpPr>
          <p:cNvPr id="13" name="Rounded Rectangle 12"/>
          <p:cNvSpPr/>
          <p:nvPr/>
        </p:nvSpPr>
        <p:spPr>
          <a:xfrm>
            <a:off x="3520440" y="2651760"/>
            <a:ext cx="2423160" cy="210312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2651760"/>
            <a:ext cx="2423160" cy="9144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926080"/>
            <a:ext cx="2423160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50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8块</a:t>
            </a:r>
            <a:endParaRPr sz="5000"/>
          </a:p>
        </p:txBody>
      </p:sp>
      <p:sp>
        <p:nvSpPr>
          <p:cNvPr id="16" name="TextBox 15"/>
          <p:cNvSpPr txBox="1"/>
          <p:nvPr/>
        </p:nvSpPr>
        <p:spPr>
          <a:xfrm>
            <a:off x="3520440" y="3931920"/>
            <a:ext cx="242316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每月大洋</a:t>
            </a:r>
            <a:endParaRPr sz="2200"/>
          </a:p>
        </p:txBody>
      </p:sp>
      <p:sp>
        <p:nvSpPr>
          <p:cNvPr id="17" name="Rounded Rectangle 16"/>
          <p:cNvSpPr/>
          <p:nvPr/>
        </p:nvSpPr>
        <p:spPr>
          <a:xfrm>
            <a:off x="6217920" y="2651760"/>
            <a:ext cx="2423160" cy="210312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651760"/>
            <a:ext cx="2423160" cy="9144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926080"/>
            <a:ext cx="2423160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50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第二</a:t>
            </a:r>
            <a:endParaRPr sz="5000"/>
          </a:p>
        </p:txBody>
      </p:sp>
      <p:sp>
        <p:nvSpPr>
          <p:cNvPr id="20" name="TextBox 19"/>
          <p:cNvSpPr txBox="1"/>
          <p:nvPr/>
        </p:nvSpPr>
        <p:spPr>
          <a:xfrm>
            <a:off x="6217920" y="3931920"/>
            <a:ext cx="242316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阅览室</a:t>
            </a:r>
            <a:endParaRPr sz="2200"/>
          </a:p>
        </p:txBody>
      </p:sp>
      <p:sp>
        <p:nvSpPr>
          <p:cNvPr id="21" name="Rounded Rectangle 20"/>
          <p:cNvSpPr/>
          <p:nvPr/>
        </p:nvSpPr>
        <p:spPr>
          <a:xfrm>
            <a:off x="8915400" y="2651760"/>
            <a:ext cx="2423160" cy="210312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15400" y="2651760"/>
            <a:ext cx="2423160" cy="9144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5400" y="2926080"/>
            <a:ext cx="2423160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50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登记</a:t>
            </a:r>
            <a:endParaRPr sz="5000"/>
          </a:p>
        </p:txBody>
      </p:sp>
      <p:sp>
        <p:nvSpPr>
          <p:cNvPr id="24" name="TextBox 23"/>
          <p:cNvSpPr txBox="1"/>
          <p:nvPr/>
        </p:nvSpPr>
        <p:spPr>
          <a:xfrm>
            <a:off x="8915400" y="3931920"/>
            <a:ext cx="242316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来馆读报者姓名</a:t>
            </a:r>
            <a:endParaRPr sz="2200"/>
          </a:p>
        </p:txBody>
      </p:sp>
      <p:sp>
        <p:nvSpPr>
          <p:cNvPr id="25" name="TextBox 24"/>
          <p:cNvSpPr txBox="1"/>
          <p:nvPr/>
        </p:nvSpPr>
        <p:spPr>
          <a:xfrm>
            <a:off x="822960" y="5166360"/>
            <a:ext cx="1051560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6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每天的工作，就是一个一个记下来访者的名字——</a:t>
            </a:r>
            <a:r>
              <a:rPr sz="26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确实很不起眼</a:t>
            </a:r>
            <a:r>
              <a:rPr sz="26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6070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第一节 · 一栋楼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他后来这样回忆</a:t>
            </a:r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09</a:t>
            </a:r>
            <a:endParaRPr sz="2000"/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28800"/>
            <a:ext cx="2423160" cy="2834640"/>
          </a:xfrm>
          <a:prstGeom prst="rect">
            <a:avLst/>
          </a:prstGeom>
          <a:ln w="31750">
            <a:solidFill>
              <a:srgbClr val="C8A15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3520440" y="1783080"/>
            <a:ext cx="91440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80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“</a:t>
            </a:r>
            <a:endParaRPr sz="8000"/>
          </a:p>
        </p:txBody>
      </p:sp>
      <p:sp>
        <p:nvSpPr>
          <p:cNvPr id="10" name="TextBox 9"/>
          <p:cNvSpPr txBox="1"/>
          <p:nvPr/>
        </p:nvSpPr>
        <p:spPr>
          <a:xfrm>
            <a:off x="4114800" y="1920240"/>
            <a:ext cx="7223760" cy="2103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25000"/>
              </a:lnSpc>
            </a:pPr>
            <a:r>
              <a:rPr sz="3200" b="0">
                <a:solidFill>
                  <a:srgbClr val="2B2B2B"/>
                </a:solidFill>
                <a:latin typeface="KaiTi"/>
                <a:ea typeface="KaiTi"/>
                <a:cs typeface="KaiTi"/>
              </a:rPr>
              <a:t>我的职位低微，大家都不理我……他们都是些大忙人，没有时间听一个图书馆助理员说南方话。</a:t>
            </a:r>
            <a:endParaRPr sz="3200"/>
          </a:p>
        </p:txBody>
      </p:sp>
      <p:sp>
        <p:nvSpPr>
          <p:cNvPr id="11" name="TextBox 10"/>
          <p:cNvSpPr txBox="1"/>
          <p:nvPr/>
        </p:nvSpPr>
        <p:spPr>
          <a:xfrm>
            <a:off x="4023360" y="4069080"/>
            <a:ext cx="73152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2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——摘自埃德加·斯诺《西行漫记》</a:t>
            </a:r>
            <a:endParaRPr sz="2200"/>
          </a:p>
        </p:txBody>
      </p:sp>
      <p:sp>
        <p:nvSpPr>
          <p:cNvPr id="12" name="Rectangle 11"/>
          <p:cNvSpPr/>
          <p:nvPr/>
        </p:nvSpPr>
        <p:spPr>
          <a:xfrm>
            <a:off x="822960" y="4892040"/>
            <a:ext cx="10515600" cy="96012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1051560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这位青年助理员，就是毛泽东。</a:t>
            </a:r>
            <a:endParaRPr sz="3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6070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第一节 · 一栋楼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我的感悟：在没人留意的地方把事做好</a:t>
            </a:r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10</a:t>
            </a:r>
            <a:endParaRPr sz="2000"/>
          </a:p>
        </p:txBody>
      </p:sp>
      <p:sp>
        <p:nvSpPr>
          <p:cNvPr id="8" name="Rectangle 7"/>
          <p:cNvSpPr/>
          <p:nvPr/>
        </p:nvSpPr>
        <p:spPr>
          <a:xfrm>
            <a:off x="822960" y="2057400"/>
            <a:ext cx="91440" cy="173736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11680"/>
            <a:ext cx="10058400" cy="1828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30000"/>
              </a:lnSpc>
            </a:pPr>
            <a:r>
              <a:rPr sz="3600" b="1">
                <a:solidFill>
                  <a:srgbClr val="7A1212"/>
                </a:solidFill>
                <a:latin typeface="KaiTi"/>
                <a:ea typeface="KaiTi"/>
                <a:cs typeface="KaiTi"/>
              </a:rPr>
              <a:t>一个后来改变中国的人，</a:t>
            </a:r>
            <a:endParaRPr sz="3600"/>
          </a:p>
          <a:p>
            <a:pPr algn="l">
              <a:lnSpc>
                <a:spcPct val="130000"/>
              </a:lnSpc>
            </a:pPr>
            <a:r>
              <a:rPr sz="3600" b="1">
                <a:solidFill>
                  <a:srgbClr val="7A1212"/>
                </a:solidFill>
                <a:latin typeface="KaiTi"/>
                <a:ea typeface="KaiTi"/>
                <a:cs typeface="KaiTi"/>
              </a:rPr>
              <a:t>当年也有过被忽视、说不上话的时候。</a:t>
            </a:r>
            <a:endParaRPr sz="3600"/>
          </a:p>
        </p:txBody>
      </p:sp>
      <p:sp>
        <p:nvSpPr>
          <p:cNvPr id="10" name="TextBox 9"/>
          <p:cNvSpPr txBox="1"/>
          <p:nvPr/>
        </p:nvSpPr>
        <p:spPr>
          <a:xfrm>
            <a:off x="1188720" y="4069080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他没有因此停下，而是</a:t>
            </a:r>
            <a:r>
              <a:rPr sz="28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在没人留意的地方把事做好</a:t>
            </a:r>
            <a:r>
              <a:rPr sz="28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800"/>
          </a:p>
        </p:txBody>
      </p:sp>
      <p:sp>
        <p:nvSpPr>
          <p:cNvPr id="11" name="Rectangle 10"/>
          <p:cNvSpPr/>
          <p:nvPr/>
        </p:nvSpPr>
        <p:spPr>
          <a:xfrm>
            <a:off x="822960" y="4983480"/>
            <a:ext cx="10515600" cy="9144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983480"/>
            <a:ext cx="10515600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很多了不起的成长，都是在没人看见的时候完成的。</a:t>
            </a:r>
            <a:endParaRPr sz="3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6070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第一节 · 一栋楼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对同学们说：不起眼的坚持</a:t>
            </a:r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11</a:t>
            </a:r>
            <a:endParaRPr sz="2000"/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4434840" cy="1874519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4348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当年的图书馆助理员</a:t>
            </a:r>
            <a:endParaRPr sz="2600"/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443484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登记每一个</a:t>
            </a:r>
            <a:endParaRPr sz="2400"/>
          </a:p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来馆读者的名字</a:t>
            </a:r>
            <a:endParaRPr sz="2400"/>
          </a:p>
        </p:txBody>
      </p:sp>
      <p:sp>
        <p:nvSpPr>
          <p:cNvPr id="11" name="Rounded Rectangle 10"/>
          <p:cNvSpPr/>
          <p:nvPr/>
        </p:nvSpPr>
        <p:spPr>
          <a:xfrm>
            <a:off x="6949440" y="1874519"/>
            <a:ext cx="4434840" cy="1874519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2011680"/>
            <a:ext cx="44348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今天的你</a:t>
            </a:r>
            <a:endParaRPr sz="2600"/>
          </a:p>
        </p:txBody>
      </p:sp>
      <p:sp>
        <p:nvSpPr>
          <p:cNvPr id="13" name="TextBox 12"/>
          <p:cNvSpPr txBox="1"/>
          <p:nvPr/>
        </p:nvSpPr>
        <p:spPr>
          <a:xfrm>
            <a:off x="6949440" y="2606040"/>
            <a:ext cx="443484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学好每一项技能</a:t>
            </a:r>
            <a:endParaRPr sz="2400"/>
          </a:p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完成每一次实训</a:t>
            </a:r>
            <a:endParaRPr sz="2400"/>
          </a:p>
        </p:txBody>
      </p:sp>
      <p:sp>
        <p:nvSpPr>
          <p:cNvPr id="14" name="Right Arrow 13"/>
          <p:cNvSpPr/>
          <p:nvPr/>
        </p:nvSpPr>
        <p:spPr>
          <a:xfrm>
            <a:off x="5532120" y="2514600"/>
            <a:ext cx="1097280" cy="640080"/>
          </a:xfrm>
          <a:prstGeom prst="rightArrow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977639"/>
            <a:ext cx="1051560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看似不起眼，但坚持做下去，就会成为你未来的</a:t>
            </a:r>
            <a:r>
              <a:rPr sz="30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底气</a:t>
            </a:r>
            <a:r>
              <a:rPr sz="30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3000"/>
          </a:p>
        </p:txBody>
      </p:sp>
      <p:sp>
        <p:nvSpPr>
          <p:cNvPr id="16" name="Rounded Rectangle 15"/>
          <p:cNvSpPr/>
          <p:nvPr/>
        </p:nvSpPr>
        <p:spPr>
          <a:xfrm>
            <a:off x="822960" y="5120640"/>
            <a:ext cx="10515600" cy="82296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120640"/>
            <a:ext cx="1005840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想一想：</a:t>
            </a: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你有没有一件看似不起眼、却一直在坚持的事？</a:t>
            </a:r>
            <a:endParaRPr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6070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第一节 · 一栋楼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回到工作：党员联系学生，让学生被看见</a:t>
            </a:r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12</a:t>
            </a:r>
            <a:endParaRPr sz="2000"/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4754880" cy="416052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57400"/>
            <a:ext cx="42976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我们看到的</a:t>
            </a:r>
            <a:endParaRPr sz="2600"/>
          </a:p>
        </p:txBody>
      </p:sp>
      <p:sp>
        <p:nvSpPr>
          <p:cNvPr id="10" name="TextBox 9"/>
          <p:cNvSpPr txBox="1"/>
          <p:nvPr/>
        </p:nvSpPr>
        <p:spPr>
          <a:xfrm>
            <a:off x="1097280" y="2651760"/>
            <a:ext cx="4297680" cy="1554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不少同学在初中阶段很少被表扬，进了校门还是低着头。</a:t>
            </a:r>
            <a:endParaRPr sz="2400"/>
          </a:p>
        </p:txBody>
      </p:sp>
      <p:sp>
        <p:nvSpPr>
          <p:cNvPr id="11" name="Rectangle 10"/>
          <p:cNvSpPr/>
          <p:nvPr/>
        </p:nvSpPr>
        <p:spPr>
          <a:xfrm>
            <a:off x="1097280" y="4160520"/>
            <a:ext cx="4206240" cy="27432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297680"/>
            <a:ext cx="4297680" cy="1554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他们需要的不是一句鼓励，</a:t>
            </a:r>
            <a:endParaRPr sz="2600"/>
          </a:p>
          <a:p>
            <a:pPr algn="l">
              <a:lnSpc>
                <a:spcPct val="125000"/>
              </a:lnSpc>
            </a:pPr>
            <a:r>
              <a:rPr sz="2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是有人</a:t>
            </a:r>
            <a:r>
              <a:rPr sz="26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真正看见他</a:t>
            </a:r>
            <a:r>
              <a:rPr sz="2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600"/>
          </a:p>
        </p:txBody>
      </p:sp>
      <p:sp>
        <p:nvSpPr>
          <p:cNvPr id="13" name="TextBox 12"/>
          <p:cNvSpPr txBox="1"/>
          <p:nvPr/>
        </p:nvSpPr>
        <p:spPr>
          <a:xfrm>
            <a:off x="5943600" y="1874519"/>
            <a:ext cx="539496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支部的做法</a:t>
            </a:r>
            <a:endParaRPr sz="2600"/>
          </a:p>
        </p:txBody>
      </p:sp>
      <p:sp>
        <p:nvSpPr>
          <p:cNvPr id="14" name="Oval 13"/>
          <p:cNvSpPr/>
          <p:nvPr/>
        </p:nvSpPr>
        <p:spPr>
          <a:xfrm>
            <a:off x="5943600" y="2606040"/>
            <a:ext cx="502920" cy="502920"/>
          </a:xfrm>
          <a:prstGeom prst="ellipse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2606040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sz="2200"/>
          </a:p>
        </p:txBody>
      </p:sp>
      <p:sp>
        <p:nvSpPr>
          <p:cNvPr id="16" name="TextBox 15"/>
          <p:cNvSpPr txBox="1"/>
          <p:nvPr/>
        </p:nvSpPr>
        <p:spPr>
          <a:xfrm>
            <a:off x="6629400" y="2514600"/>
            <a:ext cx="470916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每名党员固定联系1—2名重点关注的同学</a:t>
            </a:r>
            <a:endParaRPr sz="2400"/>
          </a:p>
        </p:txBody>
      </p:sp>
      <p:sp>
        <p:nvSpPr>
          <p:cNvPr id="17" name="Oval 16"/>
          <p:cNvSpPr/>
          <p:nvPr/>
        </p:nvSpPr>
        <p:spPr>
          <a:xfrm>
            <a:off x="5943600" y="3493008"/>
            <a:ext cx="502920" cy="502920"/>
          </a:xfrm>
          <a:prstGeom prst="ellipse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3493008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sz="2200"/>
          </a:p>
        </p:txBody>
      </p:sp>
      <p:sp>
        <p:nvSpPr>
          <p:cNvPr id="19" name="TextBox 18"/>
          <p:cNvSpPr txBox="1"/>
          <p:nvPr/>
        </p:nvSpPr>
        <p:spPr>
          <a:xfrm>
            <a:off x="6629400" y="3401568"/>
            <a:ext cx="470916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定期谈心谈话：问学习、问家里、问打算</a:t>
            </a:r>
            <a:endParaRPr sz="2400"/>
          </a:p>
        </p:txBody>
      </p:sp>
      <p:sp>
        <p:nvSpPr>
          <p:cNvPr id="20" name="Oval 19"/>
          <p:cNvSpPr/>
          <p:nvPr/>
        </p:nvSpPr>
        <p:spPr>
          <a:xfrm>
            <a:off x="5943600" y="4379975"/>
            <a:ext cx="502920" cy="502920"/>
          </a:xfrm>
          <a:prstGeom prst="ellipse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4379975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sz="2200"/>
          </a:p>
        </p:txBody>
      </p:sp>
      <p:sp>
        <p:nvSpPr>
          <p:cNvPr id="22" name="TextBox 21"/>
          <p:cNvSpPr txBox="1"/>
          <p:nvPr/>
        </p:nvSpPr>
        <p:spPr>
          <a:xfrm>
            <a:off x="6629400" y="4288536"/>
            <a:ext cx="470916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学生不会主动来找，就靠人去找</a:t>
            </a:r>
            <a:endParaRPr sz="2400"/>
          </a:p>
        </p:txBody>
      </p:sp>
      <p:sp>
        <p:nvSpPr>
          <p:cNvPr id="23" name="Oval 22"/>
          <p:cNvSpPr/>
          <p:nvPr/>
        </p:nvSpPr>
        <p:spPr>
          <a:xfrm>
            <a:off x="5943600" y="5266944"/>
            <a:ext cx="502920" cy="502920"/>
          </a:xfrm>
          <a:prstGeom prst="ellipse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526694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200"/>
          </a:p>
        </p:txBody>
      </p:sp>
      <p:sp>
        <p:nvSpPr>
          <p:cNvPr id="25" name="TextBox 24"/>
          <p:cNvSpPr txBox="1"/>
          <p:nvPr/>
        </p:nvSpPr>
        <p:spPr>
          <a:xfrm>
            <a:off x="6629400" y="5175504"/>
            <a:ext cx="470916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把话说到心里，帮他把自信找回来</a:t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E1B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21792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43600" y="411480"/>
            <a:ext cx="6248095" cy="36576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6409944"/>
            <a:ext cx="6248095" cy="36576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914400"/>
            <a:ext cx="914400" cy="914400"/>
          </a:xfrm>
          <a:prstGeom prst="rect">
            <a:avLst/>
          </a:prstGeom>
          <a:solidFill>
            <a:srgbClr val="7A1212"/>
          </a:solidFill>
          <a:ln w="3175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73952" y="987552"/>
            <a:ext cx="768096" cy="768096"/>
          </a:xfrm>
          <a:prstGeom prst="rect">
            <a:avLst/>
          </a:prstGeom>
          <a:noFill/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914400"/>
            <a:ext cx="914400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房</a:t>
            </a:r>
            <a:endParaRPr sz="3900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4864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第二节</a:t>
            </a:r>
            <a:endParaRPr sz="2800"/>
          </a:p>
        </p:txBody>
      </p:sp>
      <p:sp>
        <p:nvSpPr>
          <p:cNvPr id="9" name="TextBox 8"/>
          <p:cNvSpPr txBox="1"/>
          <p:nvPr/>
        </p:nvSpPr>
        <p:spPr>
          <a:xfrm>
            <a:off x="6400800" y="2606040"/>
            <a:ext cx="54864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一幢房</a:t>
            </a:r>
            <a:endParaRPr sz="6600"/>
          </a:p>
        </p:txBody>
      </p:sp>
      <p:sp>
        <p:nvSpPr>
          <p:cNvPr id="10" name="TextBox 9"/>
          <p:cNvSpPr txBox="1"/>
          <p:nvPr/>
        </p:nvSpPr>
        <p:spPr>
          <a:xfrm>
            <a:off x="6400800" y="3886200"/>
            <a:ext cx="548640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000" b="0">
                <a:solidFill>
                  <a:srgbClr val="F7E7C6"/>
                </a:solidFill>
                <a:latin typeface="Microsoft YaHei"/>
                <a:ea typeface="Microsoft YaHei"/>
                <a:cs typeface="Microsoft YaHei"/>
              </a:rPr>
              <a:t>上海石库门 · 组织的诞生</a:t>
            </a:r>
            <a:endParaRPr sz="3000"/>
          </a:p>
        </p:txBody>
      </p:sp>
      <p:sp>
        <p:nvSpPr>
          <p:cNvPr id="11" name="TextBox 10"/>
          <p:cNvSpPr txBox="1"/>
          <p:nvPr/>
        </p:nvSpPr>
        <p:spPr>
          <a:xfrm>
            <a:off x="6400800" y="4572000"/>
            <a:ext cx="54864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张军锋 / 文</a:t>
            </a:r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F7E7C6"/>
                </a:solidFill>
                <a:latin typeface="Microsoft YaHei"/>
                <a:ea typeface="Microsoft YaHei"/>
                <a:cs typeface="Microsoft YaHei"/>
              </a:rPr>
              <a:t>13</a:t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6070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第二节 · 一幢房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1921年7月23日晚，望志路106号</a:t>
            </a:r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sz="2000"/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83080"/>
            <a:ext cx="5760720" cy="2880360"/>
          </a:xfrm>
          <a:prstGeom prst="rect">
            <a:avLst/>
          </a:prstGeom>
          <a:ln w="31750">
            <a:solidFill>
              <a:srgbClr val="C8A15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858000" y="1783080"/>
            <a:ext cx="448056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上海法租界望志路106号</a:t>
            </a:r>
            <a:endParaRPr sz="2400"/>
          </a:p>
          <a:p>
            <a:pPr algn="l">
              <a:lnSpc>
                <a:spcPct val="11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（今兴业路76号）</a:t>
            </a:r>
            <a:endParaRPr sz="2400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788920"/>
            <a:ext cx="2103120" cy="1463040"/>
          </a:xfrm>
          <a:prstGeom prst="rect">
            <a:avLst/>
          </a:prstGeom>
          <a:ln w="31750">
            <a:solidFill>
              <a:srgbClr val="C8A15A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9144000" y="2743200"/>
            <a:ext cx="2194560" cy="1554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最小的代表才十九岁，</a:t>
            </a:r>
            <a:r>
              <a:rPr sz="22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和在座很多同学差不多大</a:t>
            </a: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200"/>
          </a:p>
        </p:txBody>
      </p:sp>
      <p:sp>
        <p:nvSpPr>
          <p:cNvPr id="12" name="Rounded Rectangle 11"/>
          <p:cNvSpPr/>
          <p:nvPr/>
        </p:nvSpPr>
        <p:spPr>
          <a:xfrm>
            <a:off x="822960" y="4846320"/>
            <a:ext cx="1965960" cy="128016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4846320"/>
            <a:ext cx="1965960" cy="73152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937760"/>
            <a:ext cx="196596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13</a:t>
            </a:r>
            <a:r>
              <a:rPr sz="20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位</a:t>
            </a:r>
            <a:endParaRPr sz="3600"/>
          </a:p>
        </p:txBody>
      </p:sp>
      <p:sp>
        <p:nvSpPr>
          <p:cNvPr id="15" name="TextBox 14"/>
          <p:cNvSpPr txBox="1"/>
          <p:nvPr/>
        </p:nvSpPr>
        <p:spPr>
          <a:xfrm>
            <a:off x="822960" y="5596128"/>
            <a:ext cx="1965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出席代表</a:t>
            </a:r>
            <a:endParaRPr sz="2000"/>
          </a:p>
        </p:txBody>
      </p:sp>
      <p:sp>
        <p:nvSpPr>
          <p:cNvPr id="16" name="Rounded Rectangle 15"/>
          <p:cNvSpPr/>
          <p:nvPr/>
        </p:nvSpPr>
        <p:spPr>
          <a:xfrm>
            <a:off x="2971800" y="4846320"/>
            <a:ext cx="1965960" cy="128016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71800" y="4846320"/>
            <a:ext cx="1965960" cy="73152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4937760"/>
            <a:ext cx="196596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18</a:t>
            </a:r>
            <a:r>
              <a:rPr sz="20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㎡</a:t>
            </a:r>
            <a:endParaRPr sz="3600"/>
          </a:p>
        </p:txBody>
      </p:sp>
      <p:sp>
        <p:nvSpPr>
          <p:cNvPr id="19" name="TextBox 18"/>
          <p:cNvSpPr txBox="1"/>
          <p:nvPr/>
        </p:nvSpPr>
        <p:spPr>
          <a:xfrm>
            <a:off x="2971800" y="5596128"/>
            <a:ext cx="1965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客厅面积</a:t>
            </a:r>
            <a:endParaRPr sz="2000"/>
          </a:p>
        </p:txBody>
      </p:sp>
      <p:sp>
        <p:nvSpPr>
          <p:cNvPr id="20" name="Rounded Rectangle 19"/>
          <p:cNvSpPr/>
          <p:nvPr/>
        </p:nvSpPr>
        <p:spPr>
          <a:xfrm>
            <a:off x="5120640" y="4846320"/>
            <a:ext cx="1965960" cy="128016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20640" y="4846320"/>
            <a:ext cx="1965960" cy="73152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4937760"/>
            <a:ext cx="196596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50</a:t>
            </a:r>
            <a:r>
              <a:rPr sz="20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多名</a:t>
            </a:r>
            <a:endParaRPr sz="3600"/>
          </a:p>
        </p:txBody>
      </p:sp>
      <p:sp>
        <p:nvSpPr>
          <p:cNvPr id="23" name="TextBox 22"/>
          <p:cNvSpPr txBox="1"/>
          <p:nvPr/>
        </p:nvSpPr>
        <p:spPr>
          <a:xfrm>
            <a:off x="5120640" y="5596128"/>
            <a:ext cx="1965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全国党员</a:t>
            </a:r>
            <a:endParaRPr sz="2000"/>
          </a:p>
        </p:txBody>
      </p:sp>
      <p:sp>
        <p:nvSpPr>
          <p:cNvPr id="24" name="Rounded Rectangle 23"/>
          <p:cNvSpPr/>
          <p:nvPr/>
        </p:nvSpPr>
        <p:spPr>
          <a:xfrm>
            <a:off x="7269480" y="4846320"/>
            <a:ext cx="1965960" cy="128016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69480" y="4846320"/>
            <a:ext cx="1965960" cy="73152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4937760"/>
            <a:ext cx="196596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28</a:t>
            </a:r>
            <a:r>
              <a:rPr sz="20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岁</a:t>
            </a:r>
            <a:endParaRPr sz="3600"/>
          </a:p>
        </p:txBody>
      </p:sp>
      <p:sp>
        <p:nvSpPr>
          <p:cNvPr id="27" name="TextBox 26"/>
          <p:cNvSpPr txBox="1"/>
          <p:nvPr/>
        </p:nvSpPr>
        <p:spPr>
          <a:xfrm>
            <a:off x="7269480" y="5596128"/>
            <a:ext cx="1965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平均年龄</a:t>
            </a:r>
            <a:endParaRPr sz="2000"/>
          </a:p>
        </p:txBody>
      </p:sp>
      <p:sp>
        <p:nvSpPr>
          <p:cNvPr id="28" name="Rounded Rectangle 27"/>
          <p:cNvSpPr/>
          <p:nvPr/>
        </p:nvSpPr>
        <p:spPr>
          <a:xfrm>
            <a:off x="9418320" y="4846320"/>
            <a:ext cx="1965960" cy="128016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18320" y="4846320"/>
            <a:ext cx="1965960" cy="73152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0" y="4937760"/>
            <a:ext cx="196596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19</a:t>
            </a:r>
            <a:r>
              <a:rPr sz="20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岁</a:t>
            </a:r>
            <a:endParaRPr sz="3600"/>
          </a:p>
        </p:txBody>
      </p:sp>
      <p:sp>
        <p:nvSpPr>
          <p:cNvPr id="31" name="TextBox 30"/>
          <p:cNvSpPr txBox="1"/>
          <p:nvPr/>
        </p:nvSpPr>
        <p:spPr>
          <a:xfrm>
            <a:off x="9418320" y="5596128"/>
            <a:ext cx="1965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最小代表</a:t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6070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第二节 · 一幢房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会场被闯，会没有停</a:t>
            </a:r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15</a:t>
            </a:r>
            <a:endParaRPr sz="2000"/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3108960" cy="251460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965960"/>
            <a:ext cx="3108960" cy="73152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310896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7月23日</a:t>
            </a:r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3108960" cy="13716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大会在望志路106号</a:t>
            </a:r>
            <a:endParaRPr sz="2400"/>
          </a:p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开幕</a:t>
            </a:r>
            <a:endParaRPr sz="2400"/>
          </a:p>
        </p:txBody>
      </p:sp>
      <p:sp>
        <p:nvSpPr>
          <p:cNvPr id="12" name="Right Arrow 11"/>
          <p:cNvSpPr/>
          <p:nvPr/>
        </p:nvSpPr>
        <p:spPr>
          <a:xfrm>
            <a:off x="3995928" y="2971800"/>
            <a:ext cx="512064" cy="502920"/>
          </a:xfrm>
          <a:prstGeom prst="rightArrow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965960"/>
            <a:ext cx="3108960" cy="251460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965960"/>
            <a:ext cx="3108960" cy="73152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965960"/>
            <a:ext cx="310896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第八天晚上</a:t>
            </a:r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4526280" y="2880360"/>
            <a:ext cx="3108960" cy="13716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巡捕房密探闯入</a:t>
            </a:r>
            <a:endParaRPr sz="2400"/>
          </a:p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会议被迫中断</a:t>
            </a:r>
            <a:endParaRPr sz="2400"/>
          </a:p>
        </p:txBody>
      </p:sp>
      <p:sp>
        <p:nvSpPr>
          <p:cNvPr id="17" name="Right Arrow 16"/>
          <p:cNvSpPr/>
          <p:nvPr/>
        </p:nvSpPr>
        <p:spPr>
          <a:xfrm>
            <a:off x="7699248" y="2971800"/>
            <a:ext cx="512064" cy="502920"/>
          </a:xfrm>
          <a:prstGeom prst="rightArrow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0" y="1965960"/>
            <a:ext cx="3108960" cy="251460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965960"/>
            <a:ext cx="3108960" cy="73152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965960"/>
            <a:ext cx="310896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最后一天</a:t>
            </a:r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8229600" y="2880360"/>
            <a:ext cx="3108960" cy="13716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转移到嘉兴南湖</a:t>
            </a:r>
            <a:endParaRPr sz="2400"/>
          </a:p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一条游船上</a:t>
            </a:r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换个地方，</a:t>
            </a:r>
            <a:r>
              <a:rPr sz="30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也要把会开完</a:t>
            </a:r>
            <a:r>
              <a:rPr sz="30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3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6070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第二节 · 一幢房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日记里的五个圈</a:t>
            </a:r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16</a:t>
            </a:r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5156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何叔衡和毛泽东从长沙动身那天，谢觉哉在日记里只写了一句：</a:t>
            </a:r>
            <a:endParaRPr sz="2400"/>
          </a:p>
        </p:txBody>
      </p:sp>
      <p:sp>
        <p:nvSpPr>
          <p:cNvPr id="9" name="Rounded Rectangle 8"/>
          <p:cNvSpPr/>
          <p:nvPr/>
        </p:nvSpPr>
        <p:spPr>
          <a:xfrm>
            <a:off x="822960" y="2468880"/>
            <a:ext cx="10515600" cy="146304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468880"/>
            <a:ext cx="9784080" cy="1463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200" b="0">
                <a:solidFill>
                  <a:srgbClr val="2B2B2B"/>
                </a:solidFill>
                <a:latin typeface="KaiTi"/>
                <a:ea typeface="KaiTi"/>
                <a:cs typeface="KaiTi"/>
              </a:rPr>
              <a:t>“午后6时叔衡往上海，偕行者润之，</a:t>
            </a:r>
            <a:endParaRPr sz="3200"/>
          </a:p>
          <a:p>
            <a:pPr algn="ctr">
              <a:lnSpc>
                <a:spcPct val="120000"/>
              </a:lnSpc>
            </a:pPr>
            <a:r>
              <a:rPr sz="3200" b="0">
                <a:solidFill>
                  <a:srgbClr val="2B2B2B"/>
                </a:solidFill>
                <a:latin typeface="KaiTi"/>
                <a:ea typeface="KaiTi"/>
                <a:cs typeface="KaiTi"/>
              </a:rPr>
              <a:t>赴全国</a:t>
            </a:r>
            <a:r>
              <a:rPr sz="3200" b="1">
                <a:solidFill>
                  <a:srgbClr val="9E1B1B"/>
                </a:solidFill>
                <a:latin typeface="KaiTi"/>
                <a:ea typeface="KaiTi"/>
                <a:cs typeface="KaiTi"/>
              </a:rPr>
              <a:t>○○○○○</a:t>
            </a:r>
            <a:r>
              <a:rPr sz="3200" b="0">
                <a:solidFill>
                  <a:srgbClr val="2B2B2B"/>
                </a:solidFill>
                <a:latin typeface="KaiTi"/>
                <a:ea typeface="KaiTi"/>
                <a:cs typeface="KaiTi"/>
              </a:rPr>
              <a:t>之招。”</a:t>
            </a:r>
            <a:endParaRPr sz="3200"/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10515600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48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○○○○○  ＝  共产主义者</a:t>
            </a:r>
            <a:endParaRPr sz="4800"/>
          </a:p>
        </p:txBody>
      </p:sp>
      <p:sp>
        <p:nvSpPr>
          <p:cNvPr id="12" name="TextBox 11"/>
          <p:cNvSpPr txBox="1"/>
          <p:nvPr/>
        </p:nvSpPr>
        <p:spPr>
          <a:xfrm>
            <a:off x="822960" y="5212080"/>
            <a:ext cx="1051560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8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当时，这几个字</a:t>
            </a:r>
            <a:r>
              <a:rPr sz="28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不能写出来</a:t>
            </a:r>
            <a:r>
              <a:rPr sz="28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6070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第二节 · 一幢房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我的感悟：信仰的分量</a:t>
            </a:r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17</a:t>
            </a:r>
            <a:endParaRPr sz="2000"/>
          </a:p>
        </p:txBody>
      </p:sp>
      <p:sp>
        <p:nvSpPr>
          <p:cNvPr id="8" name="Rectangle 7"/>
          <p:cNvSpPr/>
          <p:nvPr/>
        </p:nvSpPr>
        <p:spPr>
          <a:xfrm>
            <a:off x="822960" y="2057400"/>
            <a:ext cx="91440" cy="173736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11680"/>
            <a:ext cx="10058400" cy="1828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30000"/>
              </a:lnSpc>
            </a:pPr>
            <a:r>
              <a:rPr sz="3600" b="1">
                <a:solidFill>
                  <a:srgbClr val="7A1212"/>
                </a:solidFill>
                <a:latin typeface="KaiTi"/>
                <a:ea typeface="KaiTi"/>
                <a:cs typeface="KaiTi"/>
              </a:rPr>
              <a:t>一群人做着最危险的事，</a:t>
            </a:r>
            <a:endParaRPr sz="3600"/>
          </a:p>
          <a:p>
            <a:pPr algn="l">
              <a:lnSpc>
                <a:spcPct val="130000"/>
              </a:lnSpc>
            </a:pPr>
            <a:r>
              <a:rPr sz="3600" b="1">
                <a:solidFill>
                  <a:srgbClr val="7A1212"/>
                </a:solidFill>
                <a:latin typeface="KaiTi"/>
                <a:ea typeface="KaiTi"/>
                <a:cs typeface="KaiTi"/>
              </a:rPr>
              <a:t>落笔时却连几个字都不敢写全。</a:t>
            </a:r>
            <a:endParaRPr sz="3600"/>
          </a:p>
        </p:txBody>
      </p:sp>
      <p:sp>
        <p:nvSpPr>
          <p:cNvPr id="10" name="TextBox 9"/>
          <p:cNvSpPr txBox="1"/>
          <p:nvPr/>
        </p:nvSpPr>
        <p:spPr>
          <a:xfrm>
            <a:off x="1188720" y="4069080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他们不知道前路如何，却都</a:t>
            </a:r>
            <a:r>
              <a:rPr sz="28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到了场、留了下来</a:t>
            </a:r>
            <a:r>
              <a:rPr sz="28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800"/>
          </a:p>
        </p:txBody>
      </p:sp>
      <p:sp>
        <p:nvSpPr>
          <p:cNvPr id="11" name="Rectangle 10"/>
          <p:cNvSpPr/>
          <p:nvPr/>
        </p:nvSpPr>
        <p:spPr>
          <a:xfrm>
            <a:off x="822960" y="4983480"/>
            <a:ext cx="10515600" cy="9144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983480"/>
            <a:ext cx="10515600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信仰的分量，不在场面宏大时，而在处境艰难处。</a:t>
            </a:r>
            <a:endParaRPr sz="3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6070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第二节 · 一幢房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对同学们说：难的时候，沉住气</a:t>
            </a:r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18</a:t>
            </a:r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5156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在学校里，你们也会遇到难的时候——</a:t>
            </a:r>
            <a:endParaRPr sz="2400"/>
          </a:p>
        </p:txBody>
      </p:sp>
      <p:sp>
        <p:nvSpPr>
          <p:cNvPr id="9" name="Rounded Rectangle 8"/>
          <p:cNvSpPr/>
          <p:nvPr/>
        </p:nvSpPr>
        <p:spPr>
          <a:xfrm>
            <a:off x="822960" y="2468880"/>
            <a:ext cx="3291840" cy="123444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3291840" cy="12344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考试没过</a:t>
            </a:r>
            <a:endParaRPr sz="3000"/>
          </a:p>
        </p:txBody>
      </p:sp>
      <p:sp>
        <p:nvSpPr>
          <p:cNvPr id="11" name="Rounded Rectangle 10"/>
          <p:cNvSpPr/>
          <p:nvPr/>
        </p:nvSpPr>
        <p:spPr>
          <a:xfrm>
            <a:off x="4434840" y="2468880"/>
            <a:ext cx="3291840" cy="123444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468880"/>
            <a:ext cx="3291840" cy="12344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技能练不好</a:t>
            </a:r>
            <a:endParaRPr sz="3000"/>
          </a:p>
        </p:txBody>
      </p:sp>
      <p:sp>
        <p:nvSpPr>
          <p:cNvPr id="13" name="Rounded Rectangle 12"/>
          <p:cNvSpPr/>
          <p:nvPr/>
        </p:nvSpPr>
        <p:spPr>
          <a:xfrm>
            <a:off x="8046720" y="2468880"/>
            <a:ext cx="3291840" cy="123444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468880"/>
            <a:ext cx="3291840" cy="12344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跟同学闹了别扭</a:t>
            </a:r>
            <a:endParaRPr sz="3000"/>
          </a:p>
        </p:txBody>
      </p:sp>
      <p:sp>
        <p:nvSpPr>
          <p:cNvPr id="15" name="TextBox 14"/>
          <p:cNvSpPr txBox="1"/>
          <p:nvPr/>
        </p:nvSpPr>
        <p:spPr>
          <a:xfrm>
            <a:off x="822960" y="3931920"/>
            <a:ext cx="10515600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这些时候能不能</a:t>
            </a:r>
            <a:r>
              <a:rPr sz="28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沉住气、不放弃</a:t>
            </a:r>
            <a:r>
              <a:rPr sz="28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，往往决定了你能走多远。</a:t>
            </a:r>
            <a:endParaRPr sz="2800"/>
          </a:p>
        </p:txBody>
      </p:sp>
      <p:sp>
        <p:nvSpPr>
          <p:cNvPr id="16" name="Rounded Rectangle 15"/>
          <p:cNvSpPr/>
          <p:nvPr/>
        </p:nvSpPr>
        <p:spPr>
          <a:xfrm>
            <a:off x="822960" y="5120640"/>
            <a:ext cx="10515600" cy="82296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120640"/>
            <a:ext cx="1005840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想一想：</a:t>
            </a: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最近一次“难的时候”，你是怎么扛过来的？</a:t>
            </a:r>
            <a:endParaRPr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6070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第二节 · 一幢房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回到工作：做工作的人，要一个一个到场</a:t>
            </a:r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19</a:t>
            </a:r>
            <a:endParaRPr sz="2000"/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4526280" cy="361188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402336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帮扶台账</a:t>
            </a:r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1097280" y="2651760"/>
            <a:ext cx="402336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不能只挂个名字，</a:t>
            </a:r>
            <a:endParaRPr sz="2400"/>
          </a:p>
          <a:p>
            <a:pPr algn="l">
              <a:lnSpc>
                <a:spcPct val="125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要动态更新、摸排到人。</a:t>
            </a:r>
            <a:endParaRPr sz="2400"/>
          </a:p>
        </p:txBody>
      </p:sp>
      <p:sp>
        <p:nvSpPr>
          <p:cNvPr id="11" name="Rectangle 10"/>
          <p:cNvSpPr/>
          <p:nvPr/>
        </p:nvSpPr>
        <p:spPr>
          <a:xfrm>
            <a:off x="1097280" y="3977639"/>
            <a:ext cx="3931920" cy="27432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160520"/>
            <a:ext cx="402336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党员该在的时候，</a:t>
            </a:r>
            <a:endParaRPr sz="2600"/>
          </a:p>
          <a:p>
            <a:pPr algn="l">
              <a:lnSpc>
                <a:spcPct val="125000"/>
              </a:lnSpc>
            </a:pPr>
            <a:r>
              <a:rPr sz="26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要在。</a:t>
            </a:r>
            <a:endParaRPr sz="2600"/>
          </a:p>
        </p:txBody>
      </p:sp>
      <p:sp>
        <p:nvSpPr>
          <p:cNvPr id="13" name="Rounded Rectangle 12"/>
          <p:cNvSpPr/>
          <p:nvPr/>
        </p:nvSpPr>
        <p:spPr>
          <a:xfrm>
            <a:off x="5623560" y="1828800"/>
            <a:ext cx="5715000" cy="361188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80" y="2011680"/>
            <a:ext cx="52120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行走的党日</a:t>
            </a:r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5897880" y="2651760"/>
            <a:ext cx="521208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不在会议室里关起门搞，</a:t>
            </a:r>
            <a:endParaRPr sz="2400"/>
          </a:p>
          <a:p>
            <a:pPr algn="l">
              <a:lnSpc>
                <a:spcPct val="12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把党日放到学生中间去：</a:t>
            </a:r>
            <a:endParaRPr sz="2400"/>
          </a:p>
        </p:txBody>
      </p:sp>
      <p:sp>
        <p:nvSpPr>
          <p:cNvPr id="16" name="Rounded Rectangle 15"/>
          <p:cNvSpPr/>
          <p:nvPr/>
        </p:nvSpPr>
        <p:spPr>
          <a:xfrm>
            <a:off x="5897880" y="3794760"/>
            <a:ext cx="2514600" cy="594360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7880" y="3794760"/>
            <a:ext cx="2514600" cy="594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学生报到</a:t>
            </a:r>
            <a:endParaRPr sz="2200"/>
          </a:p>
        </p:txBody>
      </p:sp>
      <p:sp>
        <p:nvSpPr>
          <p:cNvPr id="18" name="Rounded Rectangle 17"/>
          <p:cNvSpPr/>
          <p:nvPr/>
        </p:nvSpPr>
        <p:spPr>
          <a:xfrm>
            <a:off x="8595360" y="3794760"/>
            <a:ext cx="2514600" cy="594360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3794760"/>
            <a:ext cx="2514600" cy="594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宿舍走访</a:t>
            </a:r>
            <a:endParaRPr sz="2200"/>
          </a:p>
        </p:txBody>
      </p:sp>
      <p:sp>
        <p:nvSpPr>
          <p:cNvPr id="20" name="Rounded Rectangle 19"/>
          <p:cNvSpPr/>
          <p:nvPr/>
        </p:nvSpPr>
        <p:spPr>
          <a:xfrm>
            <a:off x="5897880" y="4544568"/>
            <a:ext cx="2514600" cy="594360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7880" y="4544568"/>
            <a:ext cx="2514600" cy="594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考前谈心</a:t>
            </a:r>
            <a:endParaRPr sz="2200"/>
          </a:p>
        </p:txBody>
      </p:sp>
      <p:sp>
        <p:nvSpPr>
          <p:cNvPr id="22" name="Rounded Rectangle 21"/>
          <p:cNvSpPr/>
          <p:nvPr/>
        </p:nvSpPr>
        <p:spPr>
          <a:xfrm>
            <a:off x="8595360" y="4544568"/>
            <a:ext cx="2514600" cy="594360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4544568"/>
            <a:ext cx="2514600" cy="594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实习前谈心</a:t>
            </a:r>
            <a:endParaRPr sz="2200"/>
          </a:p>
        </p:txBody>
      </p:sp>
      <p:sp>
        <p:nvSpPr>
          <p:cNvPr id="24" name="TextBox 23"/>
          <p:cNvSpPr txBox="1"/>
          <p:nvPr/>
        </p:nvSpPr>
        <p:spPr>
          <a:xfrm>
            <a:off x="822960" y="5577840"/>
            <a:ext cx="10515600" cy="594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学生的困难是一件一件解决的，</a:t>
            </a:r>
            <a:r>
              <a:rPr sz="24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做工作的人也得一个一个到场</a:t>
            </a: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E1B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21792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43600" y="411480"/>
            <a:ext cx="6248095" cy="36576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6409944"/>
            <a:ext cx="6248095" cy="36576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914400"/>
            <a:ext cx="914400" cy="914400"/>
          </a:xfrm>
          <a:prstGeom prst="rect">
            <a:avLst/>
          </a:prstGeom>
          <a:solidFill>
            <a:srgbClr val="7A1212"/>
          </a:solidFill>
          <a:ln w="3175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73952" y="987552"/>
            <a:ext cx="768096" cy="768096"/>
          </a:xfrm>
          <a:prstGeom prst="rect">
            <a:avLst/>
          </a:prstGeom>
          <a:noFill/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914400"/>
            <a:ext cx="914400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船</a:t>
            </a:r>
            <a:endParaRPr sz="3900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4864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第三节</a:t>
            </a:r>
            <a:endParaRPr sz="2800"/>
          </a:p>
        </p:txBody>
      </p:sp>
      <p:sp>
        <p:nvSpPr>
          <p:cNvPr id="9" name="TextBox 8"/>
          <p:cNvSpPr txBox="1"/>
          <p:nvPr/>
        </p:nvSpPr>
        <p:spPr>
          <a:xfrm>
            <a:off x="6400800" y="2606040"/>
            <a:ext cx="54864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一只船</a:t>
            </a:r>
            <a:endParaRPr sz="6600"/>
          </a:p>
        </p:txBody>
      </p:sp>
      <p:sp>
        <p:nvSpPr>
          <p:cNvPr id="10" name="TextBox 9"/>
          <p:cNvSpPr txBox="1"/>
          <p:nvPr/>
        </p:nvSpPr>
        <p:spPr>
          <a:xfrm>
            <a:off x="6400800" y="3886200"/>
            <a:ext cx="548640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000" b="0">
                <a:solidFill>
                  <a:srgbClr val="F7E7C6"/>
                </a:solidFill>
                <a:latin typeface="Microsoft YaHei"/>
                <a:ea typeface="Microsoft YaHei"/>
                <a:cs typeface="Microsoft YaHei"/>
              </a:rPr>
              <a:t>南湖红船 · 扬帆的启航</a:t>
            </a:r>
            <a:endParaRPr sz="3000"/>
          </a:p>
        </p:txBody>
      </p:sp>
      <p:sp>
        <p:nvSpPr>
          <p:cNvPr id="11" name="TextBox 10"/>
          <p:cNvSpPr txBox="1"/>
          <p:nvPr/>
        </p:nvSpPr>
        <p:spPr>
          <a:xfrm>
            <a:off x="6400800" y="4572000"/>
            <a:ext cx="54864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梁衡 / 文</a:t>
            </a:r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F7E7C6"/>
                </a:solidFill>
                <a:latin typeface="Microsoft YaHei"/>
                <a:ea typeface="Microsoft YaHei"/>
                <a:cs typeface="Microsoft YaHei"/>
              </a:rPr>
              <a:t>20</a:t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12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4023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324612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第三节 · 一只船</a:t>
            </a:r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822960" y="3611880"/>
            <a:ext cx="1051560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梁衡站在船边写下</a:t>
            </a:r>
            <a:endParaRPr sz="3400"/>
          </a:p>
        </p:txBody>
      </p:sp>
      <p:sp>
        <p:nvSpPr>
          <p:cNvPr id="5" name="Rectangle 4"/>
          <p:cNvSpPr/>
          <p:nvPr/>
        </p:nvSpPr>
        <p:spPr>
          <a:xfrm>
            <a:off x="822960" y="4434840"/>
            <a:ext cx="73152" cy="73152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389120"/>
            <a:ext cx="1024128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KaiTi"/>
                <a:ea typeface="KaiTi"/>
                <a:cs typeface="KaiTi"/>
              </a:rPr>
              <a:t>“这是一只多么小的船啊，要低头弯腰才能进入舱内，刚能容下十几个人促膝侧坐。”</a:t>
            </a:r>
            <a:endParaRPr sz="2600"/>
          </a:p>
        </p:txBody>
      </p:sp>
      <p:sp>
        <p:nvSpPr>
          <p:cNvPr id="7" name="Rectangle 6"/>
          <p:cNvSpPr/>
          <p:nvPr/>
        </p:nvSpPr>
        <p:spPr>
          <a:xfrm>
            <a:off x="822960" y="5349240"/>
            <a:ext cx="73152" cy="73152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24128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KaiTi"/>
                <a:ea typeface="KaiTi"/>
                <a:cs typeface="KaiTi"/>
              </a:rPr>
              <a:t>“我真不敢想，我们轰轰烈烈、排山倒海的八十年就是从这条船舱里倾泻出来的吗？”</a:t>
            </a:r>
            <a:endParaRPr sz="2600"/>
          </a:p>
        </p:txBody>
      </p:sp>
      <p:sp>
        <p:nvSpPr>
          <p:cNvPr id="9" name="TextBox 8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F7E7C6"/>
                </a:solidFill>
                <a:latin typeface="Microsoft YaHei"/>
                <a:ea typeface="Microsoft YaHei"/>
                <a:cs typeface="Microsoft YaHei"/>
              </a:rPr>
              <a:t>21</a:t>
            </a:r>
            <a:endParaRPr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6070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第三节 · 一只船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船头放哨的人：王会悟</a:t>
            </a:r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22</a:t>
            </a:r>
            <a:endParaRPr sz="2000"/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28800"/>
            <a:ext cx="2377440" cy="3246120"/>
          </a:xfrm>
          <a:prstGeom prst="rect">
            <a:avLst/>
          </a:prstGeom>
          <a:ln w="31750">
            <a:solidFill>
              <a:srgbClr val="C8A15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22960" y="5120640"/>
            <a:ext cx="23774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王会悟</a:t>
            </a:r>
            <a:endParaRPr sz="2200"/>
          </a:p>
        </p:txBody>
      </p:sp>
      <p:sp>
        <p:nvSpPr>
          <p:cNvPr id="10" name="Rounded Rectangle 9"/>
          <p:cNvSpPr/>
          <p:nvPr/>
        </p:nvSpPr>
        <p:spPr>
          <a:xfrm>
            <a:off x="3520440" y="1828800"/>
            <a:ext cx="3794760" cy="141732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703320" y="2011680"/>
            <a:ext cx="502920" cy="502920"/>
          </a:xfrm>
          <a:prstGeom prst="ellipse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011680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sz="2200"/>
          </a:p>
        </p:txBody>
      </p:sp>
      <p:sp>
        <p:nvSpPr>
          <p:cNvPr id="13" name="TextBox 12"/>
          <p:cNvSpPr txBox="1"/>
          <p:nvPr/>
        </p:nvSpPr>
        <p:spPr>
          <a:xfrm>
            <a:off x="4343400" y="1965960"/>
            <a:ext cx="283464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她是谁</a:t>
            </a:r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4343400" y="2514600"/>
            <a:ext cx="288036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李达的夫人，嘉兴人</a:t>
            </a:r>
            <a:endParaRPr sz="2200"/>
          </a:p>
        </p:txBody>
      </p:sp>
      <p:sp>
        <p:nvSpPr>
          <p:cNvPr id="15" name="Rounded Rectangle 14"/>
          <p:cNvSpPr/>
          <p:nvPr/>
        </p:nvSpPr>
        <p:spPr>
          <a:xfrm>
            <a:off x="7498079" y="1828800"/>
            <a:ext cx="3794760" cy="141732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80959" y="2011680"/>
            <a:ext cx="502920" cy="502920"/>
          </a:xfrm>
          <a:prstGeom prst="ellipse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59" y="2011680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sz="2200"/>
          </a:p>
        </p:txBody>
      </p:sp>
      <p:sp>
        <p:nvSpPr>
          <p:cNvPr id="18" name="TextBox 17"/>
          <p:cNvSpPr txBox="1"/>
          <p:nvPr/>
        </p:nvSpPr>
        <p:spPr>
          <a:xfrm>
            <a:off x="8321040" y="1965960"/>
            <a:ext cx="283464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她提议</a:t>
            </a:r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8321040" y="2514600"/>
            <a:ext cx="288036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把会议转移到嘉兴南湖</a:t>
            </a:r>
            <a:endParaRPr sz="2200"/>
          </a:p>
        </p:txBody>
      </p:sp>
      <p:sp>
        <p:nvSpPr>
          <p:cNvPr id="20" name="Rounded Rectangle 19"/>
          <p:cNvSpPr/>
          <p:nvPr/>
        </p:nvSpPr>
        <p:spPr>
          <a:xfrm>
            <a:off x="3520440" y="3429000"/>
            <a:ext cx="3794760" cy="141732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03320" y="3611880"/>
            <a:ext cx="502920" cy="502920"/>
          </a:xfrm>
          <a:prstGeom prst="ellipse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03320" y="3611880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sz="2200"/>
          </a:p>
        </p:txBody>
      </p:sp>
      <p:sp>
        <p:nvSpPr>
          <p:cNvPr id="23" name="TextBox 22"/>
          <p:cNvSpPr txBox="1"/>
          <p:nvPr/>
        </p:nvSpPr>
        <p:spPr>
          <a:xfrm>
            <a:off x="4343400" y="3566160"/>
            <a:ext cx="283464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她放哨</a:t>
            </a:r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4343400" y="4114800"/>
            <a:ext cx="288036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坐在船头</a:t>
            </a:r>
            <a:endParaRPr sz="2200"/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留意湖面动静</a:t>
            </a:r>
            <a:endParaRPr sz="2200"/>
          </a:p>
        </p:txBody>
      </p:sp>
      <p:sp>
        <p:nvSpPr>
          <p:cNvPr id="25" name="Rounded Rectangle 24"/>
          <p:cNvSpPr/>
          <p:nvPr/>
        </p:nvSpPr>
        <p:spPr>
          <a:xfrm>
            <a:off x="7498079" y="3429000"/>
            <a:ext cx="3794760" cy="141732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80959" y="3611880"/>
            <a:ext cx="502920" cy="502920"/>
          </a:xfrm>
          <a:prstGeom prst="ellipse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59" y="3611880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200"/>
          </a:p>
        </p:txBody>
      </p:sp>
      <p:sp>
        <p:nvSpPr>
          <p:cNvPr id="28" name="TextBox 27"/>
          <p:cNvSpPr txBox="1"/>
          <p:nvPr/>
        </p:nvSpPr>
        <p:spPr>
          <a:xfrm>
            <a:off x="8321040" y="3566160"/>
            <a:ext cx="283464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她发暗号</a:t>
            </a:r>
            <a:endParaRPr sz="2400"/>
          </a:p>
        </p:txBody>
      </p:sp>
      <p:sp>
        <p:nvSpPr>
          <p:cNvPr id="29" name="TextBox 28"/>
          <p:cNvSpPr txBox="1"/>
          <p:nvPr/>
        </p:nvSpPr>
        <p:spPr>
          <a:xfrm>
            <a:off x="8321040" y="4114800"/>
            <a:ext cx="288036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汽艇驶过</a:t>
            </a:r>
            <a:endParaRPr sz="2200"/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舱内响起麻将声</a:t>
            </a:r>
            <a:endParaRPr sz="2200"/>
          </a:p>
        </p:txBody>
      </p:sp>
      <p:sp>
        <p:nvSpPr>
          <p:cNvPr id="30" name="TextBox 29"/>
          <p:cNvSpPr txBox="1"/>
          <p:nvPr/>
        </p:nvSpPr>
        <p:spPr>
          <a:xfrm>
            <a:off x="3520440" y="5120640"/>
            <a:ext cx="781812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8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会议在船上继续进行，</a:t>
            </a:r>
            <a:r>
              <a:rPr sz="28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完成了全部议程</a:t>
            </a:r>
            <a:r>
              <a:rPr sz="28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6070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第三节 · 一只船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一只小船，开天辟地</a:t>
            </a:r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23</a:t>
            </a:r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515600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就在这条小船上，大会通过了党的第一个纲领，选举产生了中央局，</a:t>
            </a:r>
            <a:r>
              <a:rPr sz="24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宣告中国共产党成立</a:t>
            </a: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105156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红船精神</a:t>
            </a:r>
            <a:endParaRPr sz="2800"/>
          </a:p>
        </p:txBody>
      </p:sp>
      <p:sp>
        <p:nvSpPr>
          <p:cNvPr id="10" name="Rounded Rectangle 9"/>
          <p:cNvSpPr/>
          <p:nvPr/>
        </p:nvSpPr>
        <p:spPr>
          <a:xfrm>
            <a:off x="822960" y="3520440"/>
            <a:ext cx="3291840" cy="2240280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" y="3630168"/>
            <a:ext cx="3072384" cy="2020824"/>
          </a:xfrm>
          <a:prstGeom prst="rect">
            <a:avLst/>
          </a:prstGeom>
          <a:noFill/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329184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7E7C6"/>
                </a:solidFill>
                <a:latin typeface="Microsoft YaHei"/>
                <a:ea typeface="Microsoft YaHei"/>
                <a:cs typeface="Microsoft YaHei"/>
              </a:rPr>
              <a:t>开天辟地、敢为人先</a:t>
            </a:r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329184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4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首创精神</a:t>
            </a:r>
            <a:endParaRPr sz="3400"/>
          </a:p>
        </p:txBody>
      </p:sp>
      <p:sp>
        <p:nvSpPr>
          <p:cNvPr id="14" name="Rounded Rectangle 13"/>
          <p:cNvSpPr/>
          <p:nvPr/>
        </p:nvSpPr>
        <p:spPr>
          <a:xfrm>
            <a:off x="4434840" y="3520440"/>
            <a:ext cx="3291840" cy="2240280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44568" y="3630168"/>
            <a:ext cx="3072384" cy="2020824"/>
          </a:xfrm>
          <a:prstGeom prst="rect">
            <a:avLst/>
          </a:prstGeom>
          <a:noFill/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3794760"/>
            <a:ext cx="329184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7E7C6"/>
                </a:solidFill>
                <a:latin typeface="Microsoft YaHei"/>
                <a:ea typeface="Microsoft YaHei"/>
                <a:cs typeface="Microsoft YaHei"/>
              </a:rPr>
              <a:t>坚定理想、百折不挠</a:t>
            </a:r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4434840" y="4617720"/>
            <a:ext cx="329184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4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奋斗精神</a:t>
            </a:r>
            <a:endParaRPr sz="3400"/>
          </a:p>
        </p:txBody>
      </p:sp>
      <p:sp>
        <p:nvSpPr>
          <p:cNvPr id="18" name="Rounded Rectangle 17"/>
          <p:cNvSpPr/>
          <p:nvPr/>
        </p:nvSpPr>
        <p:spPr>
          <a:xfrm>
            <a:off x="8046720" y="3520440"/>
            <a:ext cx="3291840" cy="2240280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3630168"/>
            <a:ext cx="3072384" cy="2020824"/>
          </a:xfrm>
          <a:prstGeom prst="rect">
            <a:avLst/>
          </a:prstGeom>
          <a:noFill/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3794760"/>
            <a:ext cx="329184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7E7C6"/>
                </a:solidFill>
                <a:latin typeface="Microsoft YaHei"/>
                <a:ea typeface="Microsoft YaHei"/>
                <a:cs typeface="Microsoft YaHei"/>
              </a:rPr>
              <a:t>立党为公、忠诚为民</a:t>
            </a:r>
            <a:endParaRPr sz="2400"/>
          </a:p>
        </p:txBody>
      </p:sp>
      <p:sp>
        <p:nvSpPr>
          <p:cNvPr id="21" name="TextBox 20"/>
          <p:cNvSpPr txBox="1"/>
          <p:nvPr/>
        </p:nvSpPr>
        <p:spPr>
          <a:xfrm>
            <a:off x="8046720" y="4617720"/>
            <a:ext cx="329184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4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奉献精神</a:t>
            </a:r>
            <a:endParaRPr sz="3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6070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第三节 · 一只船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我的感悟：各人做好自己那一份</a:t>
            </a:r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24</a:t>
            </a:r>
            <a:endParaRPr sz="2000"/>
          </a:p>
        </p:txBody>
      </p:sp>
      <p:sp>
        <p:nvSpPr>
          <p:cNvPr id="8" name="Rectangle 7"/>
          <p:cNvSpPr/>
          <p:nvPr/>
        </p:nvSpPr>
        <p:spPr>
          <a:xfrm>
            <a:off x="822960" y="1965960"/>
            <a:ext cx="91440" cy="164592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920240"/>
            <a:ext cx="1014984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7A1212"/>
                </a:solidFill>
                <a:latin typeface="KaiTi"/>
                <a:ea typeface="KaiTi"/>
                <a:cs typeface="KaiTi"/>
              </a:rPr>
              <a:t>那么大的事，是从一条小船里开始的，</a:t>
            </a:r>
            <a:endParaRPr sz="3200"/>
          </a:p>
          <a:p>
            <a:pPr algn="l">
              <a:lnSpc>
                <a:spcPct val="130000"/>
              </a:lnSpc>
            </a:pPr>
            <a:r>
              <a:rPr sz="3200" b="1">
                <a:solidFill>
                  <a:srgbClr val="7A1212"/>
                </a:solidFill>
                <a:latin typeface="KaiTi"/>
                <a:ea typeface="KaiTi"/>
                <a:cs typeface="KaiTi"/>
              </a:rPr>
              <a:t>是从一个放哨的人、一个提议的人开始的。</a:t>
            </a:r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1188720" y="3794760"/>
            <a:ext cx="1014984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各人做好自己那一份，事情才成。</a:t>
            </a:r>
            <a:endParaRPr sz="2800"/>
          </a:p>
        </p:txBody>
      </p:sp>
      <p:sp>
        <p:nvSpPr>
          <p:cNvPr id="11" name="Rounded Rectangle 10"/>
          <p:cNvSpPr/>
          <p:nvPr/>
        </p:nvSpPr>
        <p:spPr>
          <a:xfrm>
            <a:off x="822960" y="4617720"/>
            <a:ext cx="10515600" cy="137160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617720"/>
            <a:ext cx="10058400" cy="13716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育人也是一样：学生的成长，靠的不是一次大会、一场活动，而是</a:t>
            </a:r>
            <a:r>
              <a:rPr sz="24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班级、宿舍这些最小单元里一次次的关注</a:t>
            </a: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6070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第三节 · 一只船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对同学们说：做那个“放哨的人”</a:t>
            </a:r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25</a:t>
            </a:r>
            <a:endParaRPr sz="2000"/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5120640" cy="105156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512064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8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看到同学情绪不对</a:t>
            </a:r>
            <a:endParaRPr sz="2800"/>
          </a:p>
        </p:txBody>
      </p:sp>
      <p:sp>
        <p:nvSpPr>
          <p:cNvPr id="10" name="Right Arrow 9"/>
          <p:cNvSpPr/>
          <p:nvPr/>
        </p:nvSpPr>
        <p:spPr>
          <a:xfrm>
            <a:off x="6217920" y="2267712"/>
            <a:ext cx="914400" cy="548640"/>
          </a:xfrm>
          <a:prstGeom prst="rightArrow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06640" y="2011680"/>
            <a:ext cx="3931920" cy="1051560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2011680"/>
            <a:ext cx="393192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主动问一句</a:t>
            </a:r>
            <a:endParaRPr sz="3000"/>
          </a:p>
        </p:txBody>
      </p:sp>
      <p:sp>
        <p:nvSpPr>
          <p:cNvPr id="13" name="Rounded Rectangle 12"/>
          <p:cNvSpPr/>
          <p:nvPr/>
        </p:nvSpPr>
        <p:spPr>
          <a:xfrm>
            <a:off x="822960" y="3383280"/>
            <a:ext cx="5120640" cy="105156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83280"/>
            <a:ext cx="512064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8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看到室友遇到困难</a:t>
            </a:r>
            <a:endParaRPr sz="2800"/>
          </a:p>
        </p:txBody>
      </p:sp>
      <p:sp>
        <p:nvSpPr>
          <p:cNvPr id="15" name="Right Arrow 14"/>
          <p:cNvSpPr/>
          <p:nvPr/>
        </p:nvSpPr>
        <p:spPr>
          <a:xfrm>
            <a:off x="6217920" y="3639312"/>
            <a:ext cx="914400" cy="548640"/>
          </a:xfrm>
          <a:prstGeom prst="rightArrow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06640" y="3383280"/>
            <a:ext cx="3931920" cy="1051560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3383280"/>
            <a:ext cx="393192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伸手帮一把</a:t>
            </a:r>
            <a:endParaRPr sz="3000"/>
          </a:p>
        </p:txBody>
      </p:sp>
      <p:sp>
        <p:nvSpPr>
          <p:cNvPr id="18" name="TextBox 17"/>
          <p:cNvSpPr txBox="1"/>
          <p:nvPr/>
        </p:nvSpPr>
        <p:spPr>
          <a:xfrm>
            <a:off x="822960" y="4846320"/>
            <a:ext cx="10515600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2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大事往往就是从这些小事里长出来的。</a:t>
            </a:r>
            <a:endParaRPr sz="32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6070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第三节 · 一只船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回到工作：育人说到底要走心</a:t>
            </a:r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26</a:t>
            </a:r>
            <a:endParaRPr sz="2000"/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074920" cy="260604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2057400"/>
            <a:ext cx="777240" cy="777240"/>
          </a:xfrm>
          <a:prstGeom prst="ellipse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057400"/>
            <a:ext cx="77724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一</a:t>
            </a:r>
            <a:endParaRPr sz="3000"/>
          </a:p>
        </p:txBody>
      </p:sp>
      <p:sp>
        <p:nvSpPr>
          <p:cNvPr id="11" name="TextBox 10"/>
          <p:cNvSpPr txBox="1"/>
          <p:nvPr/>
        </p:nvSpPr>
        <p:spPr>
          <a:xfrm>
            <a:off x="2057400" y="2103120"/>
            <a:ext cx="365760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行走的党日</a:t>
            </a:r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1097280" y="3063240"/>
            <a:ext cx="45720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让学生在日常场景里</a:t>
            </a:r>
            <a:endParaRPr sz="2400"/>
          </a:p>
          <a:p>
            <a:pPr algn="l">
              <a:lnSpc>
                <a:spcPct val="125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看得见党员</a:t>
            </a:r>
            <a:endParaRPr sz="2400"/>
          </a:p>
        </p:txBody>
      </p:sp>
      <p:sp>
        <p:nvSpPr>
          <p:cNvPr id="13" name="Rounded Rectangle 12"/>
          <p:cNvSpPr/>
          <p:nvPr/>
        </p:nvSpPr>
        <p:spPr>
          <a:xfrm>
            <a:off x="6263640" y="1828800"/>
            <a:ext cx="5074920" cy="260604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37960" y="2057400"/>
            <a:ext cx="777240" cy="777240"/>
          </a:xfrm>
          <a:prstGeom prst="ellipse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057400"/>
            <a:ext cx="77724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二</a:t>
            </a:r>
            <a:endParaRPr sz="3000"/>
          </a:p>
        </p:txBody>
      </p:sp>
      <p:sp>
        <p:nvSpPr>
          <p:cNvPr id="16" name="TextBox 15"/>
          <p:cNvSpPr txBox="1"/>
          <p:nvPr/>
        </p:nvSpPr>
        <p:spPr>
          <a:xfrm>
            <a:off x="7498080" y="2103120"/>
            <a:ext cx="365760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党员联系学生</a:t>
            </a:r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6537960" y="3063240"/>
            <a:ext cx="45720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谈心谈话落到人头上</a:t>
            </a:r>
            <a:endParaRPr sz="2400"/>
          </a:p>
          <a:p>
            <a:pPr algn="l">
              <a:lnSpc>
                <a:spcPct val="125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有记录、有跟进，不走过场</a:t>
            </a:r>
            <a:endParaRPr sz="2400"/>
          </a:p>
        </p:txBody>
      </p:sp>
      <p:sp>
        <p:nvSpPr>
          <p:cNvPr id="18" name="Rectangle 17"/>
          <p:cNvSpPr/>
          <p:nvPr/>
        </p:nvSpPr>
        <p:spPr>
          <a:xfrm>
            <a:off x="822960" y="4709160"/>
            <a:ext cx="10515600" cy="128016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709160"/>
            <a:ext cx="100584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我带个头：</a:t>
            </a: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支部的学习体会先在党员中交流，用得上的班会素材再整理出来，不另起一套。</a:t>
            </a:r>
            <a:endParaRPr sz="2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6070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结语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回望三个坐标</a:t>
            </a:r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27</a:t>
            </a:r>
            <a:endParaRPr sz="2000"/>
          </a:p>
        </p:txBody>
      </p:sp>
      <p:sp>
        <p:nvSpPr>
          <p:cNvPr id="8" name="Rectangle 7"/>
          <p:cNvSpPr/>
          <p:nvPr/>
        </p:nvSpPr>
        <p:spPr>
          <a:xfrm>
            <a:off x="822960" y="1810512"/>
            <a:ext cx="10515600" cy="59436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10512"/>
            <a:ext cx="1463040" cy="594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坐标</a:t>
            </a:r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2377440" y="1810512"/>
            <a:ext cx="3017520" cy="594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故事</a:t>
            </a:r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5486400" y="1810512"/>
            <a:ext cx="2606040" cy="594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启示</a:t>
            </a:r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8183879" y="1810512"/>
            <a:ext cx="3154680" cy="594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我们的做法</a:t>
            </a:r>
            <a:endParaRPr sz="2400"/>
          </a:p>
        </p:txBody>
      </p:sp>
      <p:sp>
        <p:nvSpPr>
          <p:cNvPr id="13" name="Rectangle 12"/>
          <p:cNvSpPr/>
          <p:nvPr/>
        </p:nvSpPr>
        <p:spPr>
          <a:xfrm>
            <a:off x="822960" y="2468880"/>
            <a:ext cx="10515600" cy="1143000"/>
          </a:xfrm>
          <a:prstGeom prst="rect">
            <a:avLst/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61288" y="2606040"/>
            <a:ext cx="868680" cy="868680"/>
          </a:xfrm>
          <a:prstGeom prst="rect">
            <a:avLst/>
          </a:prstGeom>
          <a:solidFill>
            <a:srgbClr val="9E1B1B"/>
          </a:solidFill>
          <a:ln w="3175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30782" y="2675534"/>
            <a:ext cx="729691" cy="729691"/>
          </a:xfrm>
          <a:prstGeom prst="rect">
            <a:avLst/>
          </a:prstGeom>
          <a:noFill/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8" y="2606040"/>
            <a:ext cx="86868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37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楼</a:t>
            </a:r>
            <a:endParaRPr sz="3700"/>
          </a:p>
        </p:txBody>
      </p:sp>
      <p:sp>
        <p:nvSpPr>
          <p:cNvPr id="17" name="TextBox 16"/>
          <p:cNvSpPr txBox="1"/>
          <p:nvPr/>
        </p:nvSpPr>
        <p:spPr>
          <a:xfrm>
            <a:off x="2377440" y="2468880"/>
            <a:ext cx="3017520" cy="1143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1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北大红楼</a:t>
            </a:r>
            <a:endParaRPr sz="2200"/>
          </a:p>
          <a:p>
            <a:pPr algn="ctr">
              <a:lnSpc>
                <a:spcPct val="11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被忽视的助理员</a:t>
            </a:r>
            <a:endParaRPr sz="2200"/>
          </a:p>
        </p:txBody>
      </p:sp>
      <p:sp>
        <p:nvSpPr>
          <p:cNvPr id="18" name="TextBox 17"/>
          <p:cNvSpPr txBox="1"/>
          <p:nvPr/>
        </p:nvSpPr>
        <p:spPr>
          <a:xfrm>
            <a:off x="5486400" y="2468880"/>
            <a:ext cx="2606040" cy="1143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在不起眼处坚持</a:t>
            </a:r>
            <a:endParaRPr sz="2600"/>
          </a:p>
        </p:txBody>
      </p:sp>
      <p:sp>
        <p:nvSpPr>
          <p:cNvPr id="19" name="TextBox 18"/>
          <p:cNvSpPr txBox="1"/>
          <p:nvPr/>
        </p:nvSpPr>
        <p:spPr>
          <a:xfrm>
            <a:off x="8183879" y="2468880"/>
            <a:ext cx="3154680" cy="1143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1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党员联系学生</a:t>
            </a:r>
            <a:endParaRPr sz="2200"/>
          </a:p>
          <a:p>
            <a:pPr algn="ctr">
              <a:lnSpc>
                <a:spcPct val="11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让学生被看见</a:t>
            </a:r>
            <a:endParaRPr sz="2200"/>
          </a:p>
        </p:txBody>
      </p:sp>
      <p:sp>
        <p:nvSpPr>
          <p:cNvPr id="20" name="Rectangle 19"/>
          <p:cNvSpPr/>
          <p:nvPr/>
        </p:nvSpPr>
        <p:spPr>
          <a:xfrm>
            <a:off x="822960" y="3675888"/>
            <a:ext cx="105156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61288" y="3813048"/>
            <a:ext cx="868680" cy="868680"/>
          </a:xfrm>
          <a:prstGeom prst="rect">
            <a:avLst/>
          </a:prstGeom>
          <a:solidFill>
            <a:srgbClr val="9E1B1B"/>
          </a:solidFill>
          <a:ln w="3175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30782" y="3882542"/>
            <a:ext cx="729691" cy="729691"/>
          </a:xfrm>
          <a:prstGeom prst="rect">
            <a:avLst/>
          </a:prstGeom>
          <a:noFill/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61288" y="3813048"/>
            <a:ext cx="86868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37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房</a:t>
            </a:r>
            <a:endParaRPr sz="3700"/>
          </a:p>
        </p:txBody>
      </p:sp>
      <p:sp>
        <p:nvSpPr>
          <p:cNvPr id="24" name="TextBox 23"/>
          <p:cNvSpPr txBox="1"/>
          <p:nvPr/>
        </p:nvSpPr>
        <p:spPr>
          <a:xfrm>
            <a:off x="2377440" y="3675888"/>
            <a:ext cx="3017520" cy="1143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1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上海石库门</a:t>
            </a:r>
            <a:endParaRPr sz="2200"/>
          </a:p>
          <a:p>
            <a:pPr algn="ctr">
              <a:lnSpc>
                <a:spcPct val="11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日记里的五个圈</a:t>
            </a:r>
            <a:endParaRPr sz="2200"/>
          </a:p>
        </p:txBody>
      </p:sp>
      <p:sp>
        <p:nvSpPr>
          <p:cNvPr id="25" name="TextBox 24"/>
          <p:cNvSpPr txBox="1"/>
          <p:nvPr/>
        </p:nvSpPr>
        <p:spPr>
          <a:xfrm>
            <a:off x="5486400" y="3675888"/>
            <a:ext cx="2606040" cy="1143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在艰难处坚守</a:t>
            </a:r>
            <a:endParaRPr sz="2600"/>
          </a:p>
        </p:txBody>
      </p:sp>
      <p:sp>
        <p:nvSpPr>
          <p:cNvPr id="26" name="TextBox 25"/>
          <p:cNvSpPr txBox="1"/>
          <p:nvPr/>
        </p:nvSpPr>
        <p:spPr>
          <a:xfrm>
            <a:off x="8183879" y="3675888"/>
            <a:ext cx="3154680" cy="1143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1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行走的党日</a:t>
            </a:r>
            <a:endParaRPr sz="2200"/>
          </a:p>
          <a:p>
            <a:pPr algn="ctr">
              <a:lnSpc>
                <a:spcPct val="11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党员一个个到场</a:t>
            </a:r>
            <a:endParaRPr sz="2200"/>
          </a:p>
        </p:txBody>
      </p:sp>
      <p:sp>
        <p:nvSpPr>
          <p:cNvPr id="27" name="Rectangle 26"/>
          <p:cNvSpPr/>
          <p:nvPr/>
        </p:nvSpPr>
        <p:spPr>
          <a:xfrm>
            <a:off x="822960" y="4882896"/>
            <a:ext cx="10515600" cy="1143000"/>
          </a:xfrm>
          <a:prstGeom prst="rect">
            <a:avLst/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61288" y="5020056"/>
            <a:ext cx="868680" cy="868680"/>
          </a:xfrm>
          <a:prstGeom prst="rect">
            <a:avLst/>
          </a:prstGeom>
          <a:solidFill>
            <a:srgbClr val="9E1B1B"/>
          </a:solidFill>
          <a:ln w="3175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230782" y="5089550"/>
            <a:ext cx="729691" cy="729691"/>
          </a:xfrm>
          <a:prstGeom prst="rect">
            <a:avLst/>
          </a:prstGeom>
          <a:noFill/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61288" y="5020056"/>
            <a:ext cx="86868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37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船</a:t>
            </a:r>
            <a:endParaRPr sz="3700"/>
          </a:p>
        </p:txBody>
      </p:sp>
      <p:sp>
        <p:nvSpPr>
          <p:cNvPr id="31" name="TextBox 30"/>
          <p:cNvSpPr txBox="1"/>
          <p:nvPr/>
        </p:nvSpPr>
        <p:spPr>
          <a:xfrm>
            <a:off x="2377440" y="4882896"/>
            <a:ext cx="3017520" cy="1143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1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南湖红船</a:t>
            </a:r>
            <a:endParaRPr sz="2200"/>
          </a:p>
          <a:p>
            <a:pPr algn="ctr">
              <a:lnSpc>
                <a:spcPct val="11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船头放哨的人</a:t>
            </a:r>
            <a:endParaRPr sz="2200"/>
          </a:p>
        </p:txBody>
      </p:sp>
      <p:sp>
        <p:nvSpPr>
          <p:cNvPr id="32" name="TextBox 31"/>
          <p:cNvSpPr txBox="1"/>
          <p:nvPr/>
        </p:nvSpPr>
        <p:spPr>
          <a:xfrm>
            <a:off x="5486400" y="4882896"/>
            <a:ext cx="2606040" cy="1143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在小单元里担当</a:t>
            </a:r>
            <a:endParaRPr sz="2600"/>
          </a:p>
        </p:txBody>
      </p:sp>
      <p:sp>
        <p:nvSpPr>
          <p:cNvPr id="33" name="TextBox 32"/>
          <p:cNvSpPr txBox="1"/>
          <p:nvPr/>
        </p:nvSpPr>
        <p:spPr>
          <a:xfrm>
            <a:off x="8183879" y="4882896"/>
            <a:ext cx="3154680" cy="1143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1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谈心有记录有跟进</a:t>
            </a:r>
            <a:endParaRPr sz="2200"/>
          </a:p>
          <a:p>
            <a:pPr algn="ctr">
              <a:lnSpc>
                <a:spcPct val="11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育人要走心</a:t>
            </a:r>
            <a:endParaRPr sz="2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E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191695" cy="36576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9944"/>
            <a:ext cx="12191695" cy="36576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10058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60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山河在望  坐标在心</a:t>
            </a:r>
            <a:endParaRPr sz="6000"/>
          </a:p>
        </p:txBody>
      </p:sp>
      <p:sp>
        <p:nvSpPr>
          <p:cNvPr id="5" name="Rectangle 4"/>
          <p:cNvSpPr/>
          <p:nvPr/>
        </p:nvSpPr>
        <p:spPr>
          <a:xfrm>
            <a:off x="5184648" y="2130552"/>
            <a:ext cx="1828800" cy="4572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11277295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在自己的坐标上，写好属于我们这一代人的那一笔</a:t>
            </a:r>
            <a:endParaRPr sz="3000"/>
          </a:p>
        </p:txBody>
      </p:sp>
      <p:sp>
        <p:nvSpPr>
          <p:cNvPr id="7" name="Rounded Rectangle 6"/>
          <p:cNvSpPr/>
          <p:nvPr/>
        </p:nvSpPr>
        <p:spPr>
          <a:xfrm>
            <a:off x="914400" y="3291840"/>
            <a:ext cx="4983480" cy="178308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49834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同学们</a:t>
            </a:r>
            <a:endParaRPr sz="2800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983480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认真实训 · 彼此包容 · 直面挫折</a:t>
            </a:r>
            <a:endParaRPr sz="2400"/>
          </a:p>
        </p:txBody>
      </p:sp>
      <p:sp>
        <p:nvSpPr>
          <p:cNvPr id="10" name="Rounded Rectangle 9"/>
          <p:cNvSpPr/>
          <p:nvPr/>
        </p:nvSpPr>
        <p:spPr>
          <a:xfrm>
            <a:off x="6263640" y="3291840"/>
            <a:ext cx="4983480" cy="178308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3429000"/>
            <a:ext cx="49834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老师们</a:t>
            </a:r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6263640" y="4023360"/>
            <a:ext cx="4983480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把每一件小事做细做实</a:t>
            </a:r>
            <a:endParaRPr sz="2400"/>
          </a:p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守好自己那一份</a:t>
            </a:r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457200" y="5349240"/>
            <a:ext cx="11277295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4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这就是对红色精神最好的传承</a:t>
            </a:r>
            <a:endParaRPr sz="3400"/>
          </a:p>
        </p:txBody>
      </p:sp>
      <p:sp>
        <p:nvSpPr>
          <p:cNvPr id="14" name="TextBox 13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F7E7C6"/>
                </a:solidFill>
                <a:latin typeface="Microsoft YaHei"/>
                <a:ea typeface="Microsoft YaHei"/>
                <a:cs typeface="Microsoft YaHei"/>
              </a:rPr>
              <a:t>28</a:t>
            </a:r>
            <a:endParaRPr sz="2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交流时间</a:t>
            </a:r>
            <a:endParaRPr sz="3600"/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29</a:t>
            </a:r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40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这三个坐标里，</a:t>
            </a:r>
            <a:r>
              <a:rPr sz="40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哪一个最触动你？</a:t>
            </a:r>
            <a:endParaRPr sz="4000"/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3291840" cy="1828800"/>
          </a:xfrm>
          <a:prstGeom prst="rect">
            <a:avLst/>
          </a:prstGeom>
          <a:ln w="31750">
            <a:solidFill>
              <a:srgbClr val="C8A15A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685800" y="2788920"/>
            <a:ext cx="640080" cy="640080"/>
          </a:xfrm>
          <a:prstGeom prst="rect">
            <a:avLst/>
          </a:prstGeom>
          <a:solidFill>
            <a:srgbClr val="9E1B1B"/>
          </a:solidFill>
          <a:ln w="3175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7006" y="2840126"/>
            <a:ext cx="537667" cy="537667"/>
          </a:xfrm>
          <a:prstGeom prst="rect">
            <a:avLst/>
          </a:prstGeom>
          <a:noFill/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8892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楼</a:t>
            </a:r>
            <a:endParaRPr sz="2700"/>
          </a:p>
        </p:txBody>
      </p:sp>
      <p:sp>
        <p:nvSpPr>
          <p:cNvPr id="12" name="TextBox 11"/>
          <p:cNvSpPr txBox="1"/>
          <p:nvPr/>
        </p:nvSpPr>
        <p:spPr>
          <a:xfrm>
            <a:off x="822960" y="4754880"/>
            <a:ext cx="3291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北大红楼</a:t>
            </a:r>
            <a:endParaRPr sz="2200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926080"/>
            <a:ext cx="3291840" cy="1828800"/>
          </a:xfrm>
          <a:prstGeom prst="rect">
            <a:avLst/>
          </a:prstGeom>
          <a:ln w="31750">
            <a:solidFill>
              <a:srgbClr val="C8A15A"/>
            </a:solidFill>
          </a:ln>
        </p:spPr>
      </p:pic>
      <p:sp>
        <p:nvSpPr>
          <p:cNvPr id="14" name="Rectangle 13"/>
          <p:cNvSpPr/>
          <p:nvPr/>
        </p:nvSpPr>
        <p:spPr>
          <a:xfrm>
            <a:off x="4297680" y="2788920"/>
            <a:ext cx="640080" cy="640080"/>
          </a:xfrm>
          <a:prstGeom prst="rect">
            <a:avLst/>
          </a:prstGeom>
          <a:solidFill>
            <a:srgbClr val="9E1B1B"/>
          </a:solidFill>
          <a:ln w="3175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8886" y="2840126"/>
            <a:ext cx="537667" cy="537667"/>
          </a:xfrm>
          <a:prstGeom prst="rect">
            <a:avLst/>
          </a:prstGeom>
          <a:noFill/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278892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房</a:t>
            </a:r>
            <a:endParaRPr sz="2700"/>
          </a:p>
        </p:txBody>
      </p:sp>
      <p:sp>
        <p:nvSpPr>
          <p:cNvPr id="17" name="TextBox 16"/>
          <p:cNvSpPr txBox="1"/>
          <p:nvPr/>
        </p:nvSpPr>
        <p:spPr>
          <a:xfrm>
            <a:off x="4434840" y="4754880"/>
            <a:ext cx="3291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上海石库门</a:t>
            </a:r>
            <a:endParaRPr sz="2200"/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2926080"/>
            <a:ext cx="3291840" cy="1828800"/>
          </a:xfrm>
          <a:prstGeom prst="rect">
            <a:avLst/>
          </a:prstGeom>
          <a:ln w="31750">
            <a:solidFill>
              <a:srgbClr val="C8A15A"/>
            </a:solidFill>
          </a:ln>
        </p:spPr>
      </p:pic>
      <p:sp>
        <p:nvSpPr>
          <p:cNvPr id="19" name="Rectangle 18"/>
          <p:cNvSpPr/>
          <p:nvPr/>
        </p:nvSpPr>
        <p:spPr>
          <a:xfrm>
            <a:off x="7909560" y="2788920"/>
            <a:ext cx="640080" cy="640080"/>
          </a:xfrm>
          <a:prstGeom prst="rect">
            <a:avLst/>
          </a:prstGeom>
          <a:solidFill>
            <a:srgbClr val="9E1B1B"/>
          </a:solidFill>
          <a:ln w="3175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60766" y="2840126"/>
            <a:ext cx="537667" cy="537667"/>
          </a:xfrm>
          <a:prstGeom prst="rect">
            <a:avLst/>
          </a:prstGeom>
          <a:noFill/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278892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船</a:t>
            </a:r>
            <a:endParaRPr sz="2700"/>
          </a:p>
        </p:txBody>
      </p:sp>
      <p:sp>
        <p:nvSpPr>
          <p:cNvPr id="22" name="TextBox 21"/>
          <p:cNvSpPr txBox="1"/>
          <p:nvPr/>
        </p:nvSpPr>
        <p:spPr>
          <a:xfrm>
            <a:off x="8046720" y="4754880"/>
            <a:ext cx="3291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南湖红船</a:t>
            </a:r>
            <a:endParaRPr sz="2200"/>
          </a:p>
        </p:txBody>
      </p:sp>
      <p:sp>
        <p:nvSpPr>
          <p:cNvPr id="23" name="TextBox 22"/>
          <p:cNvSpPr txBox="1"/>
          <p:nvPr/>
        </p:nvSpPr>
        <p:spPr>
          <a:xfrm>
            <a:off x="822960" y="5212080"/>
            <a:ext cx="1051560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40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谢谢大家</a:t>
            </a:r>
            <a:endParaRPr sz="4000"/>
          </a:p>
        </p:txBody>
      </p:sp>
      <p:sp>
        <p:nvSpPr>
          <p:cNvPr id="24" name="TextBox 23"/>
          <p:cNvSpPr txBox="1"/>
          <p:nvPr/>
        </p:nvSpPr>
        <p:spPr>
          <a:xfrm>
            <a:off x="822960" y="5870448"/>
            <a:ext cx="10515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分享人：周央红</a:t>
            </a:r>
            <a:endParaRPr sz="22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图片来源</a:t>
            </a:r>
            <a:endParaRPr sz="3200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572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北大红楼：N509FZ，CC BY-SA 4.0</a:t>
            </a:r>
            <a:endParaRPr sz="2000"/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中共一大会址：ScareCriterion12，CC BY-SA 4.0</a:t>
            </a:r>
            <a:endParaRPr sz="2000"/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南湖红船：ScareCriterion12，CC BY-SA 4.0</a:t>
            </a:r>
            <a:endParaRPr sz="2000"/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毛泽东（1919年）：佚名，Public domain</a:t>
            </a:r>
            <a:endParaRPr sz="2000"/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中共一大会址石库门：Can Pac Swire from Toronto, Canada，CC BY-SA 2.0</a:t>
            </a:r>
            <a:endParaRPr sz="2000"/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望志路106号门牌：N509FZ，CC BY-SA 4.0</a:t>
            </a:r>
            <a:endParaRPr sz="2000"/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南湖红船（侧面）：钉钉，CC BY-SA 4.0</a:t>
            </a:r>
            <a:endParaRPr sz="2000"/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王会悟：佚名，Public domain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以上图片均来自 Wikimedia Commons，按原许可协议使用。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