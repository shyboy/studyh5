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各位老师、同学们，大家好！我是学生科党支部书记周央红。今天和大家分享的书叫《望山河》，我的分享题目是《一栋楼、一幢房、一只船》。接下来大约三十分钟，我们一起读书、一起回望。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开始之前，先问大家一个问题：如果让你用一个物件来代表中国共产党的起点，你会想到什么？（停顿，邀请两三位老师、同学回答，根据现场回应简单回应）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《望山河》这本书里给了三个答案——一栋楼、一幢房、一只船。一栋楼，是北京的北大红楼；一幢房，是上海的石库门；一只船，是嘉兴南湖上的红船。今天我就从这三个物件说起。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先简单介绍一下这本书。《望山河》由湖南人民出版社出版，陈晋主编。全书三十七篇，一个地方写一篇，每一篇都对应着党的历史上一个重要的地方。这本书入选了今年一、二月的“中国好书”。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三十七篇内容很丰富，今天时间有限，我选读的是前三篇：李舫写北大红楼，张军锋写上海石库门，梁衡写南湖红船。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为什么选这三篇？因为三篇连起来，正好是中国共产党从思想准备到组织诞生、再到扬帆启航的一段路。第一站，北大红楼，是新思想传播的地方，是“思想准备”；第二站，上海石库门，中共一大在这里开幕，是“组织诞生”；第三站，嘉兴南湖，大会在一条游船上闭幕，党从这里“扬帆启航”。一栋楼、一幢房、一只船，串起了一段从无到有的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这本书为什么叫“望山河”？主编陈晋在序言中有一句话：“所谓望，就是走近历史坐标、体会历史坐标、抒写历史坐标。”我很喜欢这句话，它也正好是今天分享的结构。每一个坐标，我们都分三步走：先走近，听一个故事；再体会，说说我的感悟；最后抒写，看看落到我们学生科、落到我们每个同学身上，可以做些什么。下面我们就一起走近第一个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第一节，一栋楼——北大红楼。这一篇的作者是李舫。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北大红楼1918年落成，因为整栋楼用红砖砌成，所以大家叫它“红楼”。当年北京大学的校部、文科和图书馆都在这栋楼里。这里是新文化运动的重要阵地；1919年五四运动，北大的学生就是从红楼后面的操场集合出发的。李大钊同志在这里传播马克思主义，1920年，他在红楼里指导成立了北京共产党小组。可以说，很多新思想的火种，就是从这栋楼里点燃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在这栋楼里，书中讲了这样一个人。1918年秋天，一位二十五岁的青年人走进北大红楼，在图书馆第二阅览室当助理员，每月的薪水是八块大洋。他的工作很简单，就是登记来馆读报者的姓名。大家可以想象一下，每天坐在阅览室门口，一个一个记下来访者的名字——这份工作，确实很不起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他后来回忆这段日子时说：“我的职位低微，大家都不理我……他们都是些大忙人，没有时间听一个图书馆助理员说南方话。”这段话出自斯诺的《西行漫记》。说这话的青年助理员，就是毛泽东。（停顿）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一个后来带领中国人民站起来的人，当年在这栋楼里，是一个“大家都不理”的小职员。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读到这里，我的感悟是：一个后来改变中国的人，当年也有过被忽视、说不上话的时候。但他没有因此停下，没有因为没人理就放弃，而是在没人留意的地方把事做好。很多了不起的成长，都是在没人看见的时候完成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同学们，你们现在学的每一项技能、完成的每一次实训，就像当年那位图书馆助理员登记每一个名字一样——看似不起眼，可能也没有人每天表扬你。但坚持做下去，就会成为你未来的底气。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请大家想一想：你有没有一件看似不起眼、却一直在坚持的事？（可请一两位同学简单分享）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回到我们的工作。我们学校是技工学校，不少同学在初中阶段很少被表扬，进了校门还是低着头。我常想，他们需要的不是一句鼓励，是有人真正看见他。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所以支部的做法是党员联系学生：每名党员固定联系一到两名重点关注的同学，定期谈心谈话，问学习、问家里、问心里的打算。这类同学大多安静内敛，不会主动来找人，只有靠人去找——把话说到他心里去，帮他把自信找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第二节，一幢房——上海石库门。这一篇的作者是张军锋。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1921年7月23日晚上，上海法租界望志路106号，也就是今天的兴业路76号。十三位年轻人走进一间客厅开会，这间客厅只有十八平方米，可能还没有我们一间教室的一半大。他们代表着全国五十多名党员，平均年龄二十八岁，最小的才十九岁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同学们，十九岁，和在座很多同学差不多大。就是这样一群年轻人，在这间小小的客厅里，开了一个改变中国命运的会。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这次会议并不太平。会开到第八天晚上，法租界巡捕房的密探突然闯了进来，会议被迫中断，代表们迅速撤离。但会没有就此停下——最后一天，会议转移到了嘉兴南湖的一条游船上继续进行。会场被闯，他们换个地方，也要把会开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书里还有一个细节，特别打动我。何叔衡和毛泽东从长沙动身去上海开会的那天，何叔衡的好友谢觉哉在日记里只写了一句：“午后6时叔衡往上海，偕行者润之，赴全国○○○○○之招。”日记里，他画了五个圈。这五个圈，指的就是“共产主义者”。为什么不写出来？因为在当时，这几个字是不能写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一群人做着最危险的事，落笔时却连几个字都不敢写全。他们不知道前路如何，不知道会不会成功，甚至不知道自己会不会有危险，却都到了场、留了下来。所以我想，信仰的分量，不在场面宏大时，而在处境艰难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在学校里也会遇到难的时候——考试没过、技能练不好、跟同学闹了别扭。这些事放在一辈子里也许不算大，但在当下，确实会让人很难受。这些时候能不能沉住气、不放弃，往往决定了你能走多远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也请大家想一想：最近一次“难的时候”，你是怎么扛过来的？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1.5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放在学生科的工作上，这份分量就是“到场”。第一，帮扶台账不能只挂个名字，要动态更新、摸排到人，每个名字背后都是一个具体的孩子、一个具体的家庭。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二，我们支部有一项做法叫“行走的党日”，就是不在会议室里关起门搞，把党日放到学生中间去：学生报到、宿舍走访、考前和实习前的谈心，这些日常场景里，党员该在的时候要在。学生的困难是一件一件解决的，做工作的人也得一个一个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0.3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第三节，一只船——南湖红船。这一篇的作者是梁衡。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梁衡专程赶到嘉兴南湖，站在船边写下：“这是一只多么小的船啊，要低头弯腰才能进入舱内，刚能容下十几个人促膝侧坐。”他又问：“我真不敢想，我们轰轰烈烈、排山倒海的八十年就是从这条船舱里倾泻出来的吗？”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一只要低头弯腰才能进去的小船，和一段轰轰烈烈的历史，这种反差，让人感慨。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那么，会议是怎么转移到这条船上的？这就要说到一个人——王会悟。她是李达的夫人，嘉兴人，熟悉当地情况，把会议转移到南湖就是她的提议。开会那天，她在船头放哨。下午，湖面上驶过一条汽艇，她疑心是警情，赶紧发暗号，船舱里立刻响起一片麻将声。就这样，会议在船上继续进行，完成了全部议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就在这条小船上，大会通过了党的第一个纲领，选举产生了中央局，宣告中国共产党正式成立。从此，这条船有了一个响亮的名字——“红船”。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2005年，习近平同志把红船精神概括为：开天辟地、敢为人先的首创精神；坚定理想、百折不挠的奋斗精神；立党为公、忠诚为民的奉献精神。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我的感悟是：那么大的事，是从一条小船里开始的，是从一个放哨的人、一个提议的人开始的。各人做好自己那一份，事情才成。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育人也是一样：学生的成长，靠的不是一次大会、一场活动，而是班级、宿舍这些最小单元里一次次的关注。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，你们每个人在班级里、在宿舍里，也可以成为那个“放哨的人”——看到同学情绪不对，主动问一句；看到室友遇到困难，伸手帮一把。不需要什么惊天动地的事，一句问候、一次搭把手就够了。大事往往就是从这些小事里长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1.3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回到我们的工作，育人说到底要走心。支部重点抓两件事：一是“行走的党日”，让学生在日常场景里看得见党员；二是党员联系学生，谈心谈话落到人头上，每次谈完有记录、有跟进，不走过场。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我自己也带个头，支部的学习体会先在党员中交流，用得上的班会素材再整理出来，不另起一套，不给大家增加负担。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我们一起回望一下今天走过的三个坐标。一栋楼，北大红楼，那位被忽视的图书馆助理员告诉我们：要在不起眼处坚持；对应到工作上，就是党员联系学生，让每个学生被看见。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一幢房，上海石库门，日记里的五个圈告诉我们：要在艰难处坚守；对应到工作上，就是行走的党日，党员一个一个到场。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一只船，南湖红船，船头放哨的人告诉我们：要在最小单元里担当；对应到工作上，就是谈心有记录、有跟进，育人要走心。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1.2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山河在望，坐标在心。陈晋在序言中说：“所谓望，就是走近历史坐标、体会历史坐标、抒写历史坐标。”今天我们走近了红楼、石库门和红船这三个坐标，接下来要做的，就是在自己的坐标上写好属于我们这一代人的那一笔。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同学们在校园里认真实训、彼此包容、直面挫折，老师们把每一件小事做细做实，守好自己那一份——这就是对红色精神最好的传承。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2000">
                <a:latin typeface="Microsoft YaHei"/>
                <a:ea typeface="Microsoft YaHei"/>
                <a:cs typeface="Microsoft YaHei"/>
              </a:rPr>
              <a:t>【建议用时：约 1 分钟】</a:t>
            </a:r>
          </a:p>
          <a:p>
            <a:r>
              <a:rPr sz="2000">
                <a:latin typeface="Microsoft YaHei"/>
                <a:ea typeface="Microsoft YaHei"/>
                <a:cs typeface="Microsoft YaHei"/>
              </a:rPr>
              <a:t>我的分享就到这里。最后留一个问题给大家：这三个坐标里，哪一个最触动你？欢迎大家一起交流。谢谢大家！（交流环节可根据现场时间灵活掌握）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9944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868680"/>
            <a:ext cx="2313432" cy="5669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868680"/>
            <a:ext cx="2313432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读书分享会</a:t>
            </a:r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77295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一栋楼、一幢房、一只船</a:t>
            </a:r>
            <a:endParaRPr sz="6000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77295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——《望山河》前三篇读书分享</a:t>
            </a:r>
            <a:endParaRPr sz="3200"/>
          </a:p>
        </p:txBody>
      </p:sp>
      <p:sp>
        <p:nvSpPr>
          <p:cNvPr id="8" name="Rectangle 7"/>
          <p:cNvSpPr/>
          <p:nvPr/>
        </p:nvSpPr>
        <p:spPr>
          <a:xfrm>
            <a:off x="4498848" y="3794760"/>
            <a:ext cx="914400" cy="91440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3867912"/>
            <a:ext cx="768096" cy="76809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3794760"/>
            <a:ext cx="914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3900"/>
          </a:p>
        </p:txBody>
      </p:sp>
      <p:sp>
        <p:nvSpPr>
          <p:cNvPr id="11" name="Rectangle 10"/>
          <p:cNvSpPr/>
          <p:nvPr/>
        </p:nvSpPr>
        <p:spPr>
          <a:xfrm>
            <a:off x="5705856" y="3794760"/>
            <a:ext cx="914400" cy="91440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008" y="3867912"/>
            <a:ext cx="768096" cy="76809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856" y="3794760"/>
            <a:ext cx="914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3900"/>
          </a:p>
        </p:txBody>
      </p:sp>
      <p:sp>
        <p:nvSpPr>
          <p:cNvPr id="14" name="Rectangle 13"/>
          <p:cNvSpPr/>
          <p:nvPr/>
        </p:nvSpPr>
        <p:spPr>
          <a:xfrm>
            <a:off x="6912864" y="3794760"/>
            <a:ext cx="914400" cy="91440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86016" y="3867912"/>
            <a:ext cx="768096" cy="76809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3794760"/>
            <a:ext cx="9144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3900"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分享人：周央红（学生科党支部书记）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开场一问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如果让你用</a:t>
            </a: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一个物件</a:t>
            </a:r>
            <a:endParaRPr sz="4000"/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来代表中国共产党的起点，</a:t>
            </a:r>
            <a:endParaRPr sz="4000"/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你会想到什么？</a:t>
            </a:r>
            <a:endParaRPr sz="4000"/>
          </a:p>
        </p:txBody>
      </p:sp>
      <p:sp>
        <p:nvSpPr>
          <p:cNvPr id="8" name="Rectangle 7"/>
          <p:cNvSpPr/>
          <p:nvPr/>
        </p:nvSpPr>
        <p:spPr>
          <a:xfrm>
            <a:off x="822960" y="4343400"/>
            <a:ext cx="1188720" cy="118872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8057" y="4438497"/>
            <a:ext cx="998524" cy="9985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18872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5100"/>
          </a:p>
        </p:txBody>
      </p:sp>
      <p:sp>
        <p:nvSpPr>
          <p:cNvPr id="11" name="TextBox 10"/>
          <p:cNvSpPr txBox="1"/>
          <p:nvPr/>
        </p:nvSpPr>
        <p:spPr>
          <a:xfrm>
            <a:off x="2194560" y="4389120"/>
            <a:ext cx="21945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一栋楼</a:t>
            </a:r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2194560" y="493776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200"/>
          </a:p>
        </p:txBody>
      </p:sp>
      <p:sp>
        <p:nvSpPr>
          <p:cNvPr id="13" name="Rectangle 12"/>
          <p:cNvSpPr/>
          <p:nvPr/>
        </p:nvSpPr>
        <p:spPr>
          <a:xfrm>
            <a:off x="4434840" y="4343400"/>
            <a:ext cx="1188720" cy="118872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9937" y="4438497"/>
            <a:ext cx="998524" cy="9985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343400"/>
            <a:ext cx="118872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5100"/>
          </a:p>
        </p:txBody>
      </p:sp>
      <p:sp>
        <p:nvSpPr>
          <p:cNvPr id="16" name="TextBox 15"/>
          <p:cNvSpPr txBox="1"/>
          <p:nvPr/>
        </p:nvSpPr>
        <p:spPr>
          <a:xfrm>
            <a:off x="5806440" y="4389120"/>
            <a:ext cx="21945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一幢房</a:t>
            </a:r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5806440" y="493776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200"/>
          </a:p>
        </p:txBody>
      </p:sp>
      <p:sp>
        <p:nvSpPr>
          <p:cNvPr id="18" name="Rectangle 17"/>
          <p:cNvSpPr/>
          <p:nvPr/>
        </p:nvSpPr>
        <p:spPr>
          <a:xfrm>
            <a:off x="8046720" y="4343400"/>
            <a:ext cx="1188720" cy="118872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1817" y="4438497"/>
            <a:ext cx="998524" cy="9985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343400"/>
            <a:ext cx="1188720" cy="11887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1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5100"/>
          </a:p>
        </p:txBody>
      </p:sp>
      <p:sp>
        <p:nvSpPr>
          <p:cNvPr id="21" name="TextBox 20"/>
          <p:cNvSpPr txBox="1"/>
          <p:nvPr/>
        </p:nvSpPr>
        <p:spPr>
          <a:xfrm>
            <a:off x="9418320" y="4389120"/>
            <a:ext cx="21945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一只船</a:t>
            </a:r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9418320" y="4937760"/>
            <a:ext cx="21945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认识这本书：《望山河》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1097280" y="1874519"/>
            <a:ext cx="2743200" cy="4023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011680"/>
            <a:ext cx="2468880" cy="3749039"/>
          </a:xfrm>
          <a:prstGeom prst="rect">
            <a:avLst/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274320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望</a:t>
            </a:r>
            <a:endParaRPr sz="5400"/>
          </a:p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山</a:t>
            </a:r>
            <a:endParaRPr sz="5400"/>
          </a:p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河</a:t>
            </a:r>
            <a:endParaRPr sz="5400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2743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陈晋 主编</a:t>
            </a:r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27432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湖南人民出版社</a:t>
            </a:r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4572000" y="1993392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出版</a:t>
            </a:r>
            <a:endParaRPr sz="2200"/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湖南人民出版社</a:t>
            </a:r>
            <a:endParaRPr sz="2600"/>
          </a:p>
        </p:txBody>
      </p:sp>
      <p:sp>
        <p:nvSpPr>
          <p:cNvPr id="15" name="Rounded Rectangle 14"/>
          <p:cNvSpPr/>
          <p:nvPr/>
        </p:nvSpPr>
        <p:spPr>
          <a:xfrm>
            <a:off x="4572000" y="2779776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779776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主编</a:t>
            </a:r>
            <a:endParaRPr sz="2200"/>
          </a:p>
        </p:txBody>
      </p:sp>
      <p:sp>
        <p:nvSpPr>
          <p:cNvPr id="17" name="TextBox 16"/>
          <p:cNvSpPr txBox="1"/>
          <p:nvPr/>
        </p:nvSpPr>
        <p:spPr>
          <a:xfrm>
            <a:off x="6035040" y="2706624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陈晋</a:t>
            </a:r>
            <a:endParaRPr sz="2600"/>
          </a:p>
        </p:txBody>
      </p:sp>
      <p:sp>
        <p:nvSpPr>
          <p:cNvPr id="18" name="Rounded Rectangle 17"/>
          <p:cNvSpPr/>
          <p:nvPr/>
        </p:nvSpPr>
        <p:spPr>
          <a:xfrm>
            <a:off x="4572000" y="3566160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566160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体例</a:t>
            </a:r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6035040" y="3493008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全书三十七篇，一个地方一篇</a:t>
            </a:r>
            <a:endParaRPr sz="2600"/>
          </a:p>
        </p:txBody>
      </p:sp>
      <p:sp>
        <p:nvSpPr>
          <p:cNvPr id="21" name="Rounded Rectangle 20"/>
          <p:cNvSpPr/>
          <p:nvPr/>
        </p:nvSpPr>
        <p:spPr>
          <a:xfrm>
            <a:off x="4572000" y="4352544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352544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荣誉</a:t>
            </a:r>
            <a:endParaRPr sz="2200"/>
          </a:p>
        </p:txBody>
      </p:sp>
      <p:sp>
        <p:nvSpPr>
          <p:cNvPr id="23" name="TextBox 22"/>
          <p:cNvSpPr txBox="1"/>
          <p:nvPr/>
        </p:nvSpPr>
        <p:spPr>
          <a:xfrm>
            <a:off x="6035040" y="4279392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入选今年一、二月“中国好书”</a:t>
            </a:r>
            <a:endParaRPr sz="2600"/>
          </a:p>
        </p:txBody>
      </p:sp>
      <p:sp>
        <p:nvSpPr>
          <p:cNvPr id="24" name="Rounded Rectangle 23"/>
          <p:cNvSpPr/>
          <p:nvPr/>
        </p:nvSpPr>
        <p:spPr>
          <a:xfrm>
            <a:off x="4572000" y="5138928"/>
            <a:ext cx="1188720" cy="512064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5138928"/>
            <a:ext cx="118872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选读</a:t>
            </a:r>
            <a:endParaRPr sz="2200"/>
          </a:p>
        </p:txBody>
      </p:sp>
      <p:sp>
        <p:nvSpPr>
          <p:cNvPr id="26" name="TextBox 25"/>
          <p:cNvSpPr txBox="1"/>
          <p:nvPr/>
        </p:nvSpPr>
        <p:spPr>
          <a:xfrm>
            <a:off x="6035040" y="5065776"/>
            <a:ext cx="53949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前三篇：红楼、石库门、红船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三篇文章，三个坐标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1280160" y="3264408"/>
            <a:ext cx="960120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39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1918—1920</a:t>
            </a:r>
            <a:endParaRPr sz="2200"/>
          </a:p>
        </p:txBody>
      </p:sp>
      <p:sp>
        <p:nvSpPr>
          <p:cNvPr id="9" name="Rectangle 8"/>
          <p:cNvSpPr/>
          <p:nvPr/>
        </p:nvSpPr>
        <p:spPr>
          <a:xfrm>
            <a:off x="1874519" y="2743200"/>
            <a:ext cx="1097280" cy="10972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2302" y="2830982"/>
            <a:ext cx="921715" cy="921715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743200"/>
            <a:ext cx="10972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4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4700"/>
          </a:p>
        </p:txBody>
      </p:sp>
      <p:sp>
        <p:nvSpPr>
          <p:cNvPr id="12" name="TextBox 11"/>
          <p:cNvSpPr txBox="1"/>
          <p:nvPr/>
        </p:nvSpPr>
        <p:spPr>
          <a:xfrm>
            <a:off x="777239" y="3977639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思想准备</a:t>
            </a:r>
            <a:endParaRPr sz="3000"/>
          </a:p>
        </p:txBody>
      </p:sp>
      <p:sp>
        <p:nvSpPr>
          <p:cNvPr id="13" name="TextBox 12"/>
          <p:cNvSpPr txBox="1"/>
          <p:nvPr/>
        </p:nvSpPr>
        <p:spPr>
          <a:xfrm>
            <a:off x="777239" y="4526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李舫 · 北大红楼</a:t>
            </a:r>
            <a:endParaRPr sz="2200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1921年7月</a:t>
            </a:r>
            <a:endParaRPr sz="2200"/>
          </a:p>
        </p:txBody>
      </p:sp>
      <p:sp>
        <p:nvSpPr>
          <p:cNvPr id="15" name="Rectangle 14"/>
          <p:cNvSpPr/>
          <p:nvPr/>
        </p:nvSpPr>
        <p:spPr>
          <a:xfrm>
            <a:off x="5532120" y="2743200"/>
            <a:ext cx="1097280" cy="10972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19902" y="2830982"/>
            <a:ext cx="921715" cy="921715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743200"/>
            <a:ext cx="10972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4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4700"/>
          </a:p>
        </p:txBody>
      </p:sp>
      <p:sp>
        <p:nvSpPr>
          <p:cNvPr id="18" name="TextBox 17"/>
          <p:cNvSpPr txBox="1"/>
          <p:nvPr/>
        </p:nvSpPr>
        <p:spPr>
          <a:xfrm>
            <a:off x="4434840" y="3977639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组织诞生</a:t>
            </a:r>
            <a:endParaRPr sz="3000"/>
          </a:p>
        </p:txBody>
      </p:sp>
      <p:sp>
        <p:nvSpPr>
          <p:cNvPr id="19" name="TextBox 18"/>
          <p:cNvSpPr txBox="1"/>
          <p:nvPr/>
        </p:nvSpPr>
        <p:spPr>
          <a:xfrm>
            <a:off x="4434840" y="4526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张军锋 · 上海石库门</a:t>
            </a:r>
            <a:endParaRPr sz="2200"/>
          </a:p>
        </p:txBody>
      </p:sp>
      <p:sp>
        <p:nvSpPr>
          <p:cNvPr id="20" name="TextBox 19"/>
          <p:cNvSpPr txBox="1"/>
          <p:nvPr/>
        </p:nvSpPr>
        <p:spPr>
          <a:xfrm>
            <a:off x="8092440" y="182880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1921年夏</a:t>
            </a:r>
            <a:endParaRPr sz="2200"/>
          </a:p>
        </p:txBody>
      </p:sp>
      <p:sp>
        <p:nvSpPr>
          <p:cNvPr id="21" name="Rectangle 20"/>
          <p:cNvSpPr/>
          <p:nvPr/>
        </p:nvSpPr>
        <p:spPr>
          <a:xfrm>
            <a:off x="9189720" y="2743200"/>
            <a:ext cx="1097280" cy="10972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77502" y="2830982"/>
            <a:ext cx="921715" cy="921715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743200"/>
            <a:ext cx="109728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4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4700"/>
          </a:p>
        </p:txBody>
      </p:sp>
      <p:sp>
        <p:nvSpPr>
          <p:cNvPr id="24" name="TextBox 23"/>
          <p:cNvSpPr txBox="1"/>
          <p:nvPr/>
        </p:nvSpPr>
        <p:spPr>
          <a:xfrm>
            <a:off x="8092440" y="3977639"/>
            <a:ext cx="3291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扬帆启航</a:t>
            </a:r>
            <a:endParaRPr sz="3000"/>
          </a:p>
        </p:txBody>
      </p:sp>
      <p:sp>
        <p:nvSpPr>
          <p:cNvPr id="25" name="TextBox 24"/>
          <p:cNvSpPr txBox="1"/>
          <p:nvPr/>
        </p:nvSpPr>
        <p:spPr>
          <a:xfrm>
            <a:off x="8092440" y="45262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梁衡 · 南湖红船</a:t>
            </a:r>
            <a:endParaRPr sz="2200"/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三篇连起来，正好是党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从思想准备到组织诞生、再到扬帆启航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的一段路。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何为“望”：今天分享的三步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914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“</a:t>
            </a:r>
            <a:endParaRPr sz="8000"/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969264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所谓望，就是走近历史坐标、</a:t>
            </a:r>
            <a:endParaRPr sz="3400"/>
          </a:p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体会历史坐标、抒写历史坐标。</a:t>
            </a:r>
            <a:endParaRPr sz="3400"/>
          </a:p>
        </p:txBody>
      </p:sp>
      <p:sp>
        <p:nvSpPr>
          <p:cNvPr id="9" name="TextBox 8"/>
          <p:cNvSpPr txBox="1"/>
          <p:nvPr/>
        </p:nvSpPr>
        <p:spPr>
          <a:xfrm>
            <a:off x="5852160" y="3200400"/>
            <a:ext cx="54864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——陈晋《望山河》序言</a:t>
            </a:r>
            <a:endParaRPr sz="2200"/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3063240" cy="17830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30632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走近</a:t>
            </a:r>
            <a:endParaRPr sz="3400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3063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听三个故事</a:t>
            </a:r>
            <a:endParaRPr sz="2400"/>
          </a:p>
        </p:txBody>
      </p:sp>
      <p:sp>
        <p:nvSpPr>
          <p:cNvPr id="13" name="Right Arrow 12"/>
          <p:cNvSpPr/>
          <p:nvPr/>
        </p:nvSpPr>
        <p:spPr>
          <a:xfrm>
            <a:off x="3950208" y="45720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3977639"/>
            <a:ext cx="3063240" cy="17830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114800"/>
            <a:ext cx="30632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体会</a:t>
            </a:r>
            <a:endParaRPr sz="3400"/>
          </a:p>
        </p:txBody>
      </p:sp>
      <p:sp>
        <p:nvSpPr>
          <p:cNvPr id="16" name="TextBox 15"/>
          <p:cNvSpPr txBox="1"/>
          <p:nvPr/>
        </p:nvSpPr>
        <p:spPr>
          <a:xfrm>
            <a:off x="4526280" y="4892040"/>
            <a:ext cx="3063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谈我的感悟</a:t>
            </a:r>
            <a:endParaRPr sz="2400"/>
          </a:p>
        </p:txBody>
      </p:sp>
      <p:sp>
        <p:nvSpPr>
          <p:cNvPr id="17" name="Right Arrow 16"/>
          <p:cNvSpPr/>
          <p:nvPr/>
        </p:nvSpPr>
        <p:spPr>
          <a:xfrm>
            <a:off x="7653528" y="45720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3977639"/>
            <a:ext cx="3063240" cy="17830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0632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抒写</a:t>
            </a:r>
            <a:endParaRPr sz="3400"/>
          </a:p>
        </p:txBody>
      </p:sp>
      <p:sp>
        <p:nvSpPr>
          <p:cNvPr id="20" name="TextBox 19"/>
          <p:cNvSpPr txBox="1"/>
          <p:nvPr/>
        </p:nvSpPr>
        <p:spPr>
          <a:xfrm>
            <a:off x="8229600" y="4892040"/>
            <a:ext cx="30632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落到我们的行动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9944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1737360"/>
            <a:ext cx="3108960" cy="310896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3196" y="1986076"/>
            <a:ext cx="2611526" cy="261152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3108960" cy="3108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13400"/>
          </a:p>
        </p:txBody>
      </p:sp>
      <p:sp>
        <p:nvSpPr>
          <p:cNvPr id="7" name="TextBox 6"/>
          <p:cNvSpPr txBox="1"/>
          <p:nvPr/>
        </p:nvSpPr>
        <p:spPr>
          <a:xfrm>
            <a:off x="5394960" y="1783080"/>
            <a:ext cx="6400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</a:t>
            </a:r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6400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一栋楼</a:t>
            </a:r>
            <a:endParaRPr sz="6600"/>
          </a:p>
        </p:txBody>
      </p:sp>
      <p:sp>
        <p:nvSpPr>
          <p:cNvPr id="9" name="TextBox 8"/>
          <p:cNvSpPr txBox="1"/>
          <p:nvPr/>
        </p:nvSpPr>
        <p:spPr>
          <a:xfrm>
            <a:off x="5394960" y="3657600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北大红楼 · 思想的准备</a:t>
            </a:r>
            <a:endParaRPr sz="3000"/>
          </a:p>
        </p:txBody>
      </p:sp>
      <p:sp>
        <p:nvSpPr>
          <p:cNvPr id="10" name="TextBox 9"/>
          <p:cNvSpPr txBox="1"/>
          <p:nvPr/>
        </p:nvSpPr>
        <p:spPr>
          <a:xfrm>
            <a:off x="5394960" y="4343400"/>
            <a:ext cx="64008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李舫 / 文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红楼：一座楼里的思想火种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新文化运动的重要阵地，马克思主义在中国早期传播的重要场所</a:t>
            </a:r>
            <a:endParaRPr sz="2600"/>
          </a:p>
        </p:txBody>
      </p:sp>
      <p:sp>
        <p:nvSpPr>
          <p:cNvPr id="9" name="Rounded Rectangle 8"/>
          <p:cNvSpPr/>
          <p:nvPr/>
        </p:nvSpPr>
        <p:spPr>
          <a:xfrm>
            <a:off x="822960" y="2715768"/>
            <a:ext cx="1600200" cy="621792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1918年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2651760" y="2606040"/>
            <a:ext cx="8686800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红楼落成，因红砖外墙得名；北大校部、文科和图书馆设于此</a:t>
            </a:r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2651760" y="3575304"/>
            <a:ext cx="8686800" cy="18288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813048"/>
            <a:ext cx="1600200" cy="621792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13048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1919年</a:t>
            </a:r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2651760" y="3703320"/>
            <a:ext cx="8686800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五四运动中，北大学生从红楼后的操场集合出发</a:t>
            </a:r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2651760" y="4672583"/>
            <a:ext cx="8686800" cy="18288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910328"/>
            <a:ext cx="1600200" cy="621792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10328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1920年</a:t>
            </a:r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2651760" y="4800600"/>
            <a:ext cx="8686800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李大钊在这里指导成立北京共产党小组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一位不起眼的图书馆助理员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1918年秋，一位青年人走进北大红楼，在图书馆当助理员。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25岁</a:t>
            </a:r>
            <a:endParaRPr sz="5000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年龄</a:t>
            </a:r>
            <a:endParaRPr sz="2200"/>
          </a:p>
        </p:txBody>
      </p:sp>
      <p:sp>
        <p:nvSpPr>
          <p:cNvPr id="13" name="Rounded Rectangle 12"/>
          <p:cNvSpPr/>
          <p:nvPr/>
        </p:nvSpPr>
        <p:spPr>
          <a:xfrm>
            <a:off x="352044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8块</a:t>
            </a:r>
            <a:endParaRPr sz="5000"/>
          </a:p>
        </p:txBody>
      </p:sp>
      <p:sp>
        <p:nvSpPr>
          <p:cNvPr id="16" name="TextBox 15"/>
          <p:cNvSpPr txBox="1"/>
          <p:nvPr/>
        </p:nvSpPr>
        <p:spPr>
          <a:xfrm>
            <a:off x="352044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每月大洋</a:t>
            </a:r>
            <a:endParaRPr sz="2200"/>
          </a:p>
        </p:txBody>
      </p:sp>
      <p:sp>
        <p:nvSpPr>
          <p:cNvPr id="17" name="Rounded Rectangle 16"/>
          <p:cNvSpPr/>
          <p:nvPr/>
        </p:nvSpPr>
        <p:spPr>
          <a:xfrm>
            <a:off x="621792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第二</a:t>
            </a:r>
            <a:endParaRPr sz="5000"/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阅览室</a:t>
            </a:r>
            <a:endParaRPr sz="2200"/>
          </a:p>
        </p:txBody>
      </p:sp>
      <p:sp>
        <p:nvSpPr>
          <p:cNvPr id="21" name="Rounded Rectangle 20"/>
          <p:cNvSpPr/>
          <p:nvPr/>
        </p:nvSpPr>
        <p:spPr>
          <a:xfrm>
            <a:off x="8915400" y="2651760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651760"/>
            <a:ext cx="24231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926080"/>
            <a:ext cx="242316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登记</a:t>
            </a:r>
            <a:endParaRPr sz="5000"/>
          </a:p>
        </p:txBody>
      </p:sp>
      <p:sp>
        <p:nvSpPr>
          <p:cNvPr id="24" name="TextBox 23"/>
          <p:cNvSpPr txBox="1"/>
          <p:nvPr/>
        </p:nvSpPr>
        <p:spPr>
          <a:xfrm>
            <a:off x="8915400" y="393192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来馆读报者姓名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每天的工作，就是一个一个记下来访者的名字——</a:t>
            </a: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确实很不起眼</a:t>
            </a: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他后来这样回忆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144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80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“</a:t>
            </a:r>
            <a:endParaRPr sz="8000"/>
          </a:p>
        </p:txBody>
      </p:sp>
      <p:sp>
        <p:nvSpPr>
          <p:cNvPr id="9" name="TextBox 8"/>
          <p:cNvSpPr txBox="1"/>
          <p:nvPr/>
        </p:nvSpPr>
        <p:spPr>
          <a:xfrm>
            <a:off x="1463040" y="1965960"/>
            <a:ext cx="969264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我的职位低微，大家都不理我……他们都是些大忙人，没有时间听一个图书馆助理员说南方话。</a:t>
            </a:r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4023360" y="4023360"/>
            <a:ext cx="7315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——摘自埃德加·斯诺《西行漫记》</a:t>
            </a:r>
            <a:endParaRPr sz="2200"/>
          </a:p>
        </p:txBody>
      </p:sp>
      <p:sp>
        <p:nvSpPr>
          <p:cNvPr id="11" name="Rectangle 10"/>
          <p:cNvSpPr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这位青年助理员，就是毛泽东。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我的感悟：在没人留意的地方把事做好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91440" cy="1737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10058400" cy="1828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一个后来改变中国的人，</a:t>
            </a:r>
            <a:endParaRPr sz="3600"/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当年也有过被忽视、说不上话的时候。</a:t>
            </a:r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他没有因此停下，而是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在没人留意的地方把事做好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很多了不起的成长，都是在没人看见的时候完成的。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对同学们说：不起眼的坚持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434840" cy="1874519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434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当年的图书馆助理员</a:t>
            </a:r>
            <a:endParaRPr sz="2600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434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登记每一个</a:t>
            </a:r>
            <a:endParaRPr sz="2400"/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来馆读者的名字</a:t>
            </a:r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6949440" y="1874519"/>
            <a:ext cx="4434840" cy="1874519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011680"/>
            <a:ext cx="44348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今天的你</a:t>
            </a:r>
            <a:endParaRPr sz="2600"/>
          </a:p>
        </p:txBody>
      </p:sp>
      <p:sp>
        <p:nvSpPr>
          <p:cNvPr id="13" name="TextBox 12"/>
          <p:cNvSpPr txBox="1"/>
          <p:nvPr/>
        </p:nvSpPr>
        <p:spPr>
          <a:xfrm>
            <a:off x="6949440" y="2606040"/>
            <a:ext cx="443484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学好每一项技能</a:t>
            </a:r>
            <a:endParaRPr sz="2400"/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完成每一次实训</a:t>
            </a:r>
            <a:endParaRPr sz="2400"/>
          </a:p>
        </p:txBody>
      </p:sp>
      <p:sp>
        <p:nvSpPr>
          <p:cNvPr id="14" name="Right Arrow 13"/>
          <p:cNvSpPr/>
          <p:nvPr/>
        </p:nvSpPr>
        <p:spPr>
          <a:xfrm>
            <a:off x="5532120" y="2514600"/>
            <a:ext cx="1097280" cy="64008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看似不起眼，但坚持做下去，就会成为你未来的</a:t>
            </a: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底气</a:t>
            </a: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3000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想一想：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你有没有一件看似不起眼、却一直在坚持的事？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第一节 · 一栋楼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回到工作：党员联系学生，让学生被看见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4754880" cy="41605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2976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我们看到的</a:t>
            </a:r>
            <a:endParaRPr sz="2600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297680" cy="1554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不少同学在初中阶段很少被表扬，进了校门还是低着头。</a:t>
            </a:r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97280" y="4160520"/>
            <a:ext cx="4206240" cy="27432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4297680" cy="1554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他们需要的不是一句鼓励，</a:t>
            </a:r>
            <a:endParaRPr sz="2600"/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是有人</a:t>
            </a: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真正看见他</a:t>
            </a: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/>
          </a:p>
        </p:txBody>
      </p:sp>
      <p:sp>
        <p:nvSpPr>
          <p:cNvPr id="13" name="TextBox 12"/>
          <p:cNvSpPr txBox="1"/>
          <p:nvPr/>
        </p:nvSpPr>
        <p:spPr>
          <a:xfrm>
            <a:off x="5943600" y="1874519"/>
            <a:ext cx="53949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支部的做法</a:t>
            </a:r>
            <a:endParaRPr sz="2600"/>
          </a:p>
        </p:txBody>
      </p:sp>
      <p:sp>
        <p:nvSpPr>
          <p:cNvPr id="14" name="Oval 13"/>
          <p:cNvSpPr/>
          <p:nvPr/>
        </p:nvSpPr>
        <p:spPr>
          <a:xfrm>
            <a:off x="5943600" y="2606040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60604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2200"/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每名党员固定联系1—2名重点关注的同学</a:t>
            </a:r>
            <a:endParaRPr sz="2400"/>
          </a:p>
        </p:txBody>
      </p:sp>
      <p:sp>
        <p:nvSpPr>
          <p:cNvPr id="17" name="Oval 16"/>
          <p:cNvSpPr/>
          <p:nvPr/>
        </p:nvSpPr>
        <p:spPr>
          <a:xfrm>
            <a:off x="5943600" y="3493008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493008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2200"/>
          </a:p>
        </p:txBody>
      </p:sp>
      <p:sp>
        <p:nvSpPr>
          <p:cNvPr id="19" name="TextBox 18"/>
          <p:cNvSpPr txBox="1"/>
          <p:nvPr/>
        </p:nvSpPr>
        <p:spPr>
          <a:xfrm>
            <a:off x="6629400" y="3401568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定期谈心谈话：问学习、问家里、问打算</a:t>
            </a:r>
            <a:endParaRPr sz="2400"/>
          </a:p>
        </p:txBody>
      </p:sp>
      <p:sp>
        <p:nvSpPr>
          <p:cNvPr id="20" name="Oval 19"/>
          <p:cNvSpPr/>
          <p:nvPr/>
        </p:nvSpPr>
        <p:spPr>
          <a:xfrm>
            <a:off x="5943600" y="4379975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379975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2200"/>
          </a:p>
        </p:txBody>
      </p:sp>
      <p:sp>
        <p:nvSpPr>
          <p:cNvPr id="22" name="TextBox 21"/>
          <p:cNvSpPr txBox="1"/>
          <p:nvPr/>
        </p:nvSpPr>
        <p:spPr>
          <a:xfrm>
            <a:off x="6629400" y="4288536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学生不会主动来找，就靠人去找</a:t>
            </a:r>
            <a:endParaRPr sz="2400"/>
          </a:p>
        </p:txBody>
      </p:sp>
      <p:sp>
        <p:nvSpPr>
          <p:cNvPr id="23" name="Oval 22"/>
          <p:cNvSpPr/>
          <p:nvPr/>
        </p:nvSpPr>
        <p:spPr>
          <a:xfrm>
            <a:off x="5943600" y="5266944"/>
            <a:ext cx="502920" cy="50292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66944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6629400" y="5175504"/>
            <a:ext cx="470916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把话说到心里，帮他把自信找回来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9944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1737360"/>
            <a:ext cx="3108960" cy="310896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3196" y="1986076"/>
            <a:ext cx="2611526" cy="261152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3108960" cy="3108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13400"/>
          </a:p>
        </p:txBody>
      </p:sp>
      <p:sp>
        <p:nvSpPr>
          <p:cNvPr id="7" name="TextBox 6"/>
          <p:cNvSpPr txBox="1"/>
          <p:nvPr/>
        </p:nvSpPr>
        <p:spPr>
          <a:xfrm>
            <a:off x="5394960" y="1783080"/>
            <a:ext cx="6400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</a:t>
            </a:r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6400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一幢房</a:t>
            </a:r>
            <a:endParaRPr sz="6600"/>
          </a:p>
        </p:txBody>
      </p:sp>
      <p:sp>
        <p:nvSpPr>
          <p:cNvPr id="9" name="TextBox 8"/>
          <p:cNvSpPr txBox="1"/>
          <p:nvPr/>
        </p:nvSpPr>
        <p:spPr>
          <a:xfrm>
            <a:off x="5394960" y="3657600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上海石库门 · 组织的诞生</a:t>
            </a:r>
            <a:endParaRPr sz="3000"/>
          </a:p>
        </p:txBody>
      </p:sp>
      <p:sp>
        <p:nvSpPr>
          <p:cNvPr id="10" name="TextBox 9"/>
          <p:cNvSpPr txBox="1"/>
          <p:nvPr/>
        </p:nvSpPr>
        <p:spPr>
          <a:xfrm>
            <a:off x="5394960" y="4343400"/>
            <a:ext cx="64008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张军锋 / 文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1921年7月23日晚，望志路106号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地点：上海法租界望志路106号（今兴业路76号）的一间客厅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9659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96596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13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位</a:t>
            </a:r>
            <a:endParaRPr sz="5000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1965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出席代表</a:t>
            </a:r>
            <a:endParaRPr sz="2200"/>
          </a:p>
        </p:txBody>
      </p:sp>
      <p:sp>
        <p:nvSpPr>
          <p:cNvPr id="13" name="Rounded Rectangle 12"/>
          <p:cNvSpPr/>
          <p:nvPr/>
        </p:nvSpPr>
        <p:spPr>
          <a:xfrm>
            <a:off x="2971800" y="278892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1800" y="2788920"/>
            <a:ext cx="19659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3017520"/>
            <a:ext cx="196596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18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㎡</a:t>
            </a:r>
            <a:endParaRPr sz="5000"/>
          </a:p>
        </p:txBody>
      </p:sp>
      <p:sp>
        <p:nvSpPr>
          <p:cNvPr id="16" name="TextBox 15"/>
          <p:cNvSpPr txBox="1"/>
          <p:nvPr/>
        </p:nvSpPr>
        <p:spPr>
          <a:xfrm>
            <a:off x="2971800" y="4114800"/>
            <a:ext cx="1965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客厅面积</a:t>
            </a:r>
            <a:endParaRPr sz="2200"/>
          </a:p>
        </p:txBody>
      </p:sp>
      <p:sp>
        <p:nvSpPr>
          <p:cNvPr id="17" name="Rounded Rectangle 16"/>
          <p:cNvSpPr/>
          <p:nvPr/>
        </p:nvSpPr>
        <p:spPr>
          <a:xfrm>
            <a:off x="5120640" y="278892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788920"/>
            <a:ext cx="19659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196596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50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多名</a:t>
            </a:r>
            <a:endParaRPr sz="5000"/>
          </a:p>
        </p:txBody>
      </p:sp>
      <p:sp>
        <p:nvSpPr>
          <p:cNvPr id="20" name="TextBox 19"/>
          <p:cNvSpPr txBox="1"/>
          <p:nvPr/>
        </p:nvSpPr>
        <p:spPr>
          <a:xfrm>
            <a:off x="5120640" y="4114800"/>
            <a:ext cx="1965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全国党员</a:t>
            </a:r>
            <a:endParaRPr sz="2200"/>
          </a:p>
        </p:txBody>
      </p:sp>
      <p:sp>
        <p:nvSpPr>
          <p:cNvPr id="21" name="Rounded Rectangle 20"/>
          <p:cNvSpPr/>
          <p:nvPr/>
        </p:nvSpPr>
        <p:spPr>
          <a:xfrm>
            <a:off x="7269480" y="278892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80" y="2788920"/>
            <a:ext cx="19659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017520"/>
            <a:ext cx="196596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28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岁</a:t>
            </a:r>
            <a:endParaRPr sz="5000"/>
          </a:p>
        </p:txBody>
      </p:sp>
      <p:sp>
        <p:nvSpPr>
          <p:cNvPr id="24" name="TextBox 23"/>
          <p:cNvSpPr txBox="1"/>
          <p:nvPr/>
        </p:nvSpPr>
        <p:spPr>
          <a:xfrm>
            <a:off x="7269480" y="4114800"/>
            <a:ext cx="1965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平均年龄</a:t>
            </a:r>
            <a:endParaRPr sz="2200"/>
          </a:p>
        </p:txBody>
      </p:sp>
      <p:sp>
        <p:nvSpPr>
          <p:cNvPr id="25" name="Rounded Rectangle 24"/>
          <p:cNvSpPr/>
          <p:nvPr/>
        </p:nvSpPr>
        <p:spPr>
          <a:xfrm>
            <a:off x="9418320" y="2788920"/>
            <a:ext cx="1965960" cy="210312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2788920"/>
            <a:ext cx="1965960" cy="9144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3017520"/>
            <a:ext cx="196596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5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19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岁</a:t>
            </a:r>
            <a:endParaRPr sz="5000"/>
          </a:p>
        </p:txBody>
      </p:sp>
      <p:sp>
        <p:nvSpPr>
          <p:cNvPr id="28" name="TextBox 27"/>
          <p:cNvSpPr txBox="1"/>
          <p:nvPr/>
        </p:nvSpPr>
        <p:spPr>
          <a:xfrm>
            <a:off x="9418320" y="4114800"/>
            <a:ext cx="1965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最小代表</a:t>
            </a:r>
            <a:endParaRPr sz="2200"/>
          </a:p>
        </p:txBody>
      </p:sp>
      <p:sp>
        <p:nvSpPr>
          <p:cNvPr id="29" name="TextBox 28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最小的代表才十九岁——</a:t>
            </a: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和在座很多同学差不多大</a:t>
            </a: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会场被闯，会没有停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3108960" cy="7315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10896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7月23日</a:t>
            </a:r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10896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大会在望志路106号</a:t>
            </a:r>
            <a:endParaRPr sz="2400"/>
          </a:p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开幕</a:t>
            </a:r>
            <a:endParaRPr sz="2400"/>
          </a:p>
        </p:txBody>
      </p:sp>
      <p:sp>
        <p:nvSpPr>
          <p:cNvPr id="12" name="Right Arrow 11"/>
          <p:cNvSpPr/>
          <p:nvPr/>
        </p:nvSpPr>
        <p:spPr>
          <a:xfrm>
            <a:off x="3995928" y="29718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96596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965960"/>
            <a:ext cx="3108960" cy="7315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10896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第八天晚上</a:t>
            </a:r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4526280" y="2880360"/>
            <a:ext cx="310896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巡捕房密探闯入</a:t>
            </a:r>
            <a:endParaRPr sz="2400"/>
          </a:p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会议被迫中断</a:t>
            </a:r>
            <a:endParaRPr sz="2400"/>
          </a:p>
        </p:txBody>
      </p:sp>
      <p:sp>
        <p:nvSpPr>
          <p:cNvPr id="17" name="Right Arrow 16"/>
          <p:cNvSpPr/>
          <p:nvPr/>
        </p:nvSpPr>
        <p:spPr>
          <a:xfrm>
            <a:off x="7699248" y="2971800"/>
            <a:ext cx="512064" cy="50292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965960"/>
            <a:ext cx="3108960" cy="2514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965960"/>
            <a:ext cx="3108960" cy="7315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310896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最后一天</a:t>
            </a:r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229600" y="2880360"/>
            <a:ext cx="310896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转移到嘉兴南湖</a:t>
            </a:r>
            <a:endParaRPr sz="2400"/>
          </a:p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一条游船上</a:t>
            </a:r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换个地方，</a:t>
            </a: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也要把会开完</a:t>
            </a:r>
            <a:r>
              <a:rPr sz="30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日记里的五个圈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何叔衡和毛泽东从长沙动身那天，谢觉哉在日记里只写了一句：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0515600" cy="14630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978408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“午后6时叔衡往上海，偕行者润之，</a:t>
            </a:r>
            <a:endParaRPr sz="3200"/>
          </a:p>
          <a:p>
            <a:pPr algn="ctr">
              <a:lnSpc>
                <a:spcPct val="120000"/>
              </a:lnSpc>
            </a:pP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赴全国</a:t>
            </a:r>
            <a:r>
              <a:rPr sz="3200" b="1">
                <a:solidFill>
                  <a:srgbClr val="9E1B1B"/>
                </a:solidFill>
                <a:latin typeface="KaiTi"/>
                <a:ea typeface="KaiTi"/>
                <a:cs typeface="KaiTi"/>
              </a:rPr>
              <a:t>○○○○○</a:t>
            </a:r>
            <a:r>
              <a:rPr sz="32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之招。”</a:t>
            </a:r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○○○○○  ＝  共产主义者</a:t>
            </a:r>
            <a:endParaRPr sz="4800"/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当时，这几个字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不能写出来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我的感悟：信仰的分量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91440" cy="1737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10058400" cy="1828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一群人做着最危险的事，</a:t>
            </a:r>
            <a:endParaRPr sz="3600"/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落笔时却连几个字都不敢写全。</a:t>
            </a:r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他们不知道前路如何，却都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到了场、留了下来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  <p:sp>
        <p:nvSpPr>
          <p:cNvPr id="11" name="Rectangle 10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信仰的分量，不在场面宏大时，而在处境艰难处。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对同学们说：难的时候，沉住气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在学校里，你们也会遇到难的时候——</a:t>
            </a:r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2918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考试没过</a:t>
            </a:r>
            <a:endParaRPr sz="3000"/>
          </a:p>
        </p:txBody>
      </p:sp>
      <p:sp>
        <p:nvSpPr>
          <p:cNvPr id="11" name="Rounded Rectangle 10"/>
          <p:cNvSpPr/>
          <p:nvPr/>
        </p:nvSpPr>
        <p:spPr>
          <a:xfrm>
            <a:off x="4434840" y="2468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68880"/>
            <a:ext cx="32918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技能练不好</a:t>
            </a:r>
            <a:endParaRPr sz="3000"/>
          </a:p>
        </p:txBody>
      </p:sp>
      <p:sp>
        <p:nvSpPr>
          <p:cNvPr id="13" name="Rounded Rectangle 12"/>
          <p:cNvSpPr/>
          <p:nvPr/>
        </p:nvSpPr>
        <p:spPr>
          <a:xfrm>
            <a:off x="8046720" y="2468880"/>
            <a:ext cx="3291840" cy="12344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12344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跟同学闹了别扭</a:t>
            </a:r>
            <a:endParaRPr sz="3000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这些时候能不能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沉住气、不放弃</a:t>
            </a: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，往往决定了你能走多远。</a:t>
            </a:r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想一想：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最近一次“难的时候”，你是怎么扛过来的？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第二节 · 一幢房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回到工作：做工作的人，要一个一个到场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526280" cy="36118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0233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帮扶台账</a:t>
            </a:r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0233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不能只挂个名字，</a:t>
            </a:r>
            <a:endParaRPr sz="2400"/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要动态更新、摸排到人。</a:t>
            </a:r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1097280" y="3977639"/>
            <a:ext cx="3931920" cy="27432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40233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党员该在的时候，</a:t>
            </a:r>
            <a:endParaRPr sz="2600"/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要在。</a:t>
            </a:r>
            <a:endParaRPr sz="2600"/>
          </a:p>
        </p:txBody>
      </p:sp>
      <p:sp>
        <p:nvSpPr>
          <p:cNvPr id="13" name="Rounded Rectangle 12"/>
          <p:cNvSpPr/>
          <p:nvPr/>
        </p:nvSpPr>
        <p:spPr>
          <a:xfrm>
            <a:off x="5623560" y="1828800"/>
            <a:ext cx="5715000" cy="361188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011680"/>
            <a:ext cx="52120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行走的党日</a:t>
            </a:r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897880" y="2651760"/>
            <a:ext cx="52120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不在会议室里关起门搞，</a:t>
            </a:r>
            <a:endParaRPr sz="2400"/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把党日放到学生中间去：</a:t>
            </a:r>
            <a:endParaRPr sz="2400"/>
          </a:p>
        </p:txBody>
      </p:sp>
      <p:sp>
        <p:nvSpPr>
          <p:cNvPr id="16" name="Rounded Rectangle 15"/>
          <p:cNvSpPr/>
          <p:nvPr/>
        </p:nvSpPr>
        <p:spPr>
          <a:xfrm>
            <a:off x="5897880" y="3794760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3794760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学生报到</a:t>
            </a:r>
            <a:endParaRPr sz="2200"/>
          </a:p>
        </p:txBody>
      </p:sp>
      <p:sp>
        <p:nvSpPr>
          <p:cNvPr id="18" name="Rounded Rectangle 17"/>
          <p:cNvSpPr/>
          <p:nvPr/>
        </p:nvSpPr>
        <p:spPr>
          <a:xfrm>
            <a:off x="8595360" y="3794760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794760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宿舍走访</a:t>
            </a:r>
            <a:endParaRPr sz="2200"/>
          </a:p>
        </p:txBody>
      </p:sp>
      <p:sp>
        <p:nvSpPr>
          <p:cNvPr id="20" name="Rounded Rectangle 19"/>
          <p:cNvSpPr/>
          <p:nvPr/>
        </p:nvSpPr>
        <p:spPr>
          <a:xfrm>
            <a:off x="5897880" y="4544568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544568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考前谈心</a:t>
            </a:r>
            <a:endParaRPr sz="2200"/>
          </a:p>
        </p:txBody>
      </p:sp>
      <p:sp>
        <p:nvSpPr>
          <p:cNvPr id="22" name="Rounded Rectangle 21"/>
          <p:cNvSpPr/>
          <p:nvPr/>
        </p:nvSpPr>
        <p:spPr>
          <a:xfrm>
            <a:off x="8595360" y="4544568"/>
            <a:ext cx="2514600" cy="5943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544568"/>
            <a:ext cx="2514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实习前谈心</a:t>
            </a:r>
            <a:endParaRPr sz="2200"/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学生的困难是一件一件解决的，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做工作的人也得一个一个到场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9944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1737360"/>
            <a:ext cx="3108960" cy="3108960"/>
          </a:xfrm>
          <a:prstGeom prst="rect">
            <a:avLst/>
          </a:prstGeom>
          <a:solidFill>
            <a:srgbClr val="7A1212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3196" y="1986076"/>
            <a:ext cx="2611526" cy="2611526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3108960" cy="3108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4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13400"/>
          </a:p>
        </p:txBody>
      </p:sp>
      <p:sp>
        <p:nvSpPr>
          <p:cNvPr id="7" name="TextBox 6"/>
          <p:cNvSpPr txBox="1"/>
          <p:nvPr/>
        </p:nvSpPr>
        <p:spPr>
          <a:xfrm>
            <a:off x="5394960" y="1783080"/>
            <a:ext cx="64008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</a:t>
            </a:r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5394960" y="2377440"/>
            <a:ext cx="6400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一只船</a:t>
            </a:r>
            <a:endParaRPr sz="6600"/>
          </a:p>
        </p:txBody>
      </p:sp>
      <p:sp>
        <p:nvSpPr>
          <p:cNvPr id="9" name="TextBox 8"/>
          <p:cNvSpPr txBox="1"/>
          <p:nvPr/>
        </p:nvSpPr>
        <p:spPr>
          <a:xfrm>
            <a:off x="5394960" y="3657600"/>
            <a:ext cx="640080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南湖红船 · 扬帆的启航</a:t>
            </a:r>
            <a:endParaRPr sz="3000"/>
          </a:p>
        </p:txBody>
      </p:sp>
      <p:sp>
        <p:nvSpPr>
          <p:cNvPr id="10" name="TextBox 9"/>
          <p:cNvSpPr txBox="1"/>
          <p:nvPr/>
        </p:nvSpPr>
        <p:spPr>
          <a:xfrm>
            <a:off x="5394960" y="4343400"/>
            <a:ext cx="64008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梁衡 / 文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梁衡站在船边写下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91440" cy="132588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1014984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“这是一只多么小的船啊，要低头弯腰才能进入舱内，刚能容下十几个人促膝侧坐。”</a:t>
            </a:r>
            <a:endParaRPr sz="3000"/>
          </a:p>
        </p:txBody>
      </p:sp>
      <p:sp>
        <p:nvSpPr>
          <p:cNvPr id="10" name="Rectangle 9"/>
          <p:cNvSpPr/>
          <p:nvPr/>
        </p:nvSpPr>
        <p:spPr>
          <a:xfrm>
            <a:off x="822960" y="3474720"/>
            <a:ext cx="91440" cy="132588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1014984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2B2B2B"/>
                </a:solidFill>
                <a:latin typeface="KaiTi"/>
                <a:ea typeface="KaiTi"/>
                <a:cs typeface="KaiTi"/>
              </a:rPr>
              <a:t>“我真不敢想，我们轰轰烈烈、排山倒海的八十年就是从这条船舱里倾泻出来的吗？”</a:t>
            </a:r>
            <a:endParaRPr sz="3000"/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一只要低头弯腰才能进去的小船，</a:t>
            </a: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承载起一段轰轰烈烈的历史</a:t>
            </a:r>
            <a:r>
              <a:rPr sz="26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船头放哨的人：王会悟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2423160" cy="26517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9928" y="2103120"/>
            <a:ext cx="640080" cy="6400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21031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她是谁</a:t>
            </a:r>
            <a:endParaRPr sz="2600"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24231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李达的夫人</a:t>
            </a:r>
            <a:endParaRPr sz="2200"/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嘉兴人</a:t>
            </a:r>
            <a:endParaRPr sz="2200"/>
          </a:p>
        </p:txBody>
      </p:sp>
      <p:sp>
        <p:nvSpPr>
          <p:cNvPr id="13" name="Rounded Rectangle 12"/>
          <p:cNvSpPr/>
          <p:nvPr/>
        </p:nvSpPr>
        <p:spPr>
          <a:xfrm>
            <a:off x="3520440" y="1920240"/>
            <a:ext cx="2423160" cy="26517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7408" y="2103120"/>
            <a:ext cx="640080" cy="6400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21031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520440" y="283464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她提议</a:t>
            </a:r>
            <a:endParaRPr sz="2600"/>
          </a:p>
        </p:txBody>
      </p:sp>
      <p:sp>
        <p:nvSpPr>
          <p:cNvPr id="17" name="TextBox 16"/>
          <p:cNvSpPr txBox="1"/>
          <p:nvPr/>
        </p:nvSpPr>
        <p:spPr>
          <a:xfrm>
            <a:off x="3520440" y="3474720"/>
            <a:ext cx="24231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把会议转移到</a:t>
            </a:r>
            <a:endParaRPr sz="2200"/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嘉兴南湖</a:t>
            </a:r>
            <a:endParaRPr sz="2200"/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2423160" cy="26517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04888" y="2103120"/>
            <a:ext cx="640080" cy="6400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21031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6217920" y="283464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她放哨</a:t>
            </a:r>
            <a:endParaRPr sz="2600"/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24231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坐在船头</a:t>
            </a:r>
            <a:endParaRPr sz="2200"/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留意湖面动静</a:t>
            </a:r>
            <a:endParaRPr sz="2200"/>
          </a:p>
        </p:txBody>
      </p:sp>
      <p:sp>
        <p:nvSpPr>
          <p:cNvPr id="23" name="Rounded Rectangle 22"/>
          <p:cNvSpPr/>
          <p:nvPr/>
        </p:nvSpPr>
        <p:spPr>
          <a:xfrm>
            <a:off x="8915400" y="1920240"/>
            <a:ext cx="2423160" cy="26517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02368" y="2103120"/>
            <a:ext cx="640080" cy="64008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2368" y="210312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8915400" y="2834640"/>
            <a:ext cx="2423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她发暗号</a:t>
            </a:r>
            <a:endParaRPr sz="2600"/>
          </a:p>
        </p:txBody>
      </p:sp>
      <p:sp>
        <p:nvSpPr>
          <p:cNvPr id="27" name="TextBox 26"/>
          <p:cNvSpPr txBox="1"/>
          <p:nvPr/>
        </p:nvSpPr>
        <p:spPr>
          <a:xfrm>
            <a:off x="8915400" y="3474720"/>
            <a:ext cx="24231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汽艇驶过</a:t>
            </a:r>
            <a:endParaRPr sz="2200"/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舱内响起麻将声</a:t>
            </a:r>
            <a:endParaRPr sz="2200"/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会议在船上继续进行，</a:t>
            </a: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完成了全部议程</a:t>
            </a: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一只小船，开天辟地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就在这条小船上，大会通过了党的第一个纲领，选举产生了中央局，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宣告中国共产党成立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红船精神</a:t>
            </a:r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630168"/>
            <a:ext cx="3072384" cy="20208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开天辟地、敢为人先</a:t>
            </a:r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首创精神</a:t>
            </a:r>
            <a:endParaRPr sz="3400"/>
          </a:p>
        </p:txBody>
      </p:sp>
      <p:sp>
        <p:nvSpPr>
          <p:cNvPr id="14" name="Rounded Rectangle 13"/>
          <p:cNvSpPr/>
          <p:nvPr/>
        </p:nvSpPr>
        <p:spPr>
          <a:xfrm>
            <a:off x="4434840" y="352044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3630168"/>
            <a:ext cx="3072384" cy="20208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79476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坚定理想、百折不挠</a:t>
            </a:r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434840" y="461772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奋斗精神</a:t>
            </a:r>
            <a:endParaRPr sz="3400"/>
          </a:p>
        </p:txBody>
      </p:sp>
      <p:sp>
        <p:nvSpPr>
          <p:cNvPr id="18" name="Rounded Rectangle 17"/>
          <p:cNvSpPr/>
          <p:nvPr/>
        </p:nvSpPr>
        <p:spPr>
          <a:xfrm>
            <a:off x="8046720" y="3520440"/>
            <a:ext cx="3291840" cy="224028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3630168"/>
            <a:ext cx="3072384" cy="202082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79476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立党为公、忠诚为民</a:t>
            </a:r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8046720" y="4617720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奉献精神</a:t>
            </a:r>
            <a:endParaRPr sz="3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我的感悟：各人做好自己那一份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91440" cy="164592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1014984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那么大的事，是从一条小船里开始的，</a:t>
            </a:r>
            <a:endParaRPr sz="3200"/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7A1212"/>
                </a:solidFill>
                <a:latin typeface="KaiTi"/>
                <a:ea typeface="KaiTi"/>
                <a:cs typeface="KaiTi"/>
              </a:rPr>
              <a:t>是从一个放哨的人、一个提议的人开始的。</a:t>
            </a:r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101498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各人做好自己那一份，事情才成。</a:t>
            </a:r>
            <a:endParaRPr sz="2800"/>
          </a:p>
        </p:txBody>
      </p:sp>
      <p:sp>
        <p:nvSpPr>
          <p:cNvPr id="11" name="Rounded Rectangle 10"/>
          <p:cNvSpPr/>
          <p:nvPr/>
        </p:nvSpPr>
        <p:spPr>
          <a:xfrm>
            <a:off x="822960" y="461772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育人也是一样：学生的成长，靠的不是一次大会、一场活动，而是</a:t>
            </a:r>
            <a:r>
              <a:rPr sz="24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班级、宿舍这些最小单元里一次次的关注</a:t>
            </a: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对同学们说：做那个“放哨的人”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25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512064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看到同学情绪不对</a:t>
            </a:r>
            <a:endParaRPr sz="2800"/>
          </a:p>
        </p:txBody>
      </p:sp>
      <p:sp>
        <p:nvSpPr>
          <p:cNvPr id="10" name="Right Arrow 9"/>
          <p:cNvSpPr/>
          <p:nvPr/>
        </p:nvSpPr>
        <p:spPr>
          <a:xfrm>
            <a:off x="6217920" y="2267712"/>
            <a:ext cx="914400" cy="54864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3931920" cy="10515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11680"/>
            <a:ext cx="393192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主动问一句</a:t>
            </a:r>
            <a:endParaRPr sz="3000"/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512064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看到室友遇到困难</a:t>
            </a:r>
            <a:endParaRPr sz="2800"/>
          </a:p>
        </p:txBody>
      </p:sp>
      <p:sp>
        <p:nvSpPr>
          <p:cNvPr id="15" name="Right Arrow 14"/>
          <p:cNvSpPr/>
          <p:nvPr/>
        </p:nvSpPr>
        <p:spPr>
          <a:xfrm>
            <a:off x="6217920" y="3639312"/>
            <a:ext cx="914400" cy="548640"/>
          </a:xfrm>
          <a:prstGeom prst="rightArrow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3383280"/>
            <a:ext cx="3931920" cy="1051560"/>
          </a:xfrm>
          <a:prstGeom prst="roundRect">
            <a:avLst>
              <a:gd name="adj" fmla="val 12000"/>
            </a:avLst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383280"/>
            <a:ext cx="393192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伸手帮一把</a:t>
            </a:r>
            <a:endParaRPr sz="3000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2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大事往往就是从这些小事里长出来的。</a:t>
            </a:r>
            <a:endParaRPr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第三节 · 一只船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回到工作：育人说到底要走心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26</a:t>
            </a:r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074920" cy="26060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057400"/>
            <a:ext cx="777240" cy="77724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一</a:t>
            </a:r>
            <a:endParaRPr sz="3000"/>
          </a:p>
        </p:txBody>
      </p:sp>
      <p:sp>
        <p:nvSpPr>
          <p:cNvPr id="11" name="TextBox 10"/>
          <p:cNvSpPr txBox="1"/>
          <p:nvPr/>
        </p:nvSpPr>
        <p:spPr>
          <a:xfrm>
            <a:off x="2057400" y="2103120"/>
            <a:ext cx="3657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行走的党日</a:t>
            </a:r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让学生在日常场景里</a:t>
            </a:r>
            <a:endParaRPr sz="2400"/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看得见党员</a:t>
            </a:r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074920" cy="2606040"/>
          </a:xfrm>
          <a:prstGeom prst="roundRect">
            <a:avLst>
              <a:gd name="adj" fmla="val 12000"/>
            </a:avLst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60" y="2057400"/>
            <a:ext cx="777240" cy="777240"/>
          </a:xfrm>
          <a:prstGeom prst="ellipse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77724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二</a:t>
            </a:r>
            <a:endParaRPr sz="3000"/>
          </a:p>
        </p:txBody>
      </p:sp>
      <p:sp>
        <p:nvSpPr>
          <p:cNvPr id="16" name="TextBox 15"/>
          <p:cNvSpPr txBox="1"/>
          <p:nvPr/>
        </p:nvSpPr>
        <p:spPr>
          <a:xfrm>
            <a:off x="7498080" y="2103120"/>
            <a:ext cx="365760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党员联系学生</a:t>
            </a:r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谈心谈话落到人头上</a:t>
            </a:r>
            <a:endParaRPr sz="2400"/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有记录、有跟进，不走过场</a:t>
            </a:r>
            <a:endParaRPr sz="2400"/>
          </a:p>
        </p:txBody>
      </p:sp>
      <p:sp>
        <p:nvSpPr>
          <p:cNvPr id="18" name="Rectangle 17"/>
          <p:cNvSpPr/>
          <p:nvPr/>
        </p:nvSpPr>
        <p:spPr>
          <a:xfrm>
            <a:off x="822960" y="4709160"/>
            <a:ext cx="10515600" cy="12801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100584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我带个头：</a:t>
            </a: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支部的学习体会先在党员中交流，用得上的班会素材再整理出来，不另起一套。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84048"/>
            <a:ext cx="8229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结语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回望三个坐标</a:t>
            </a:r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27</a:t>
            </a:r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10515600" cy="59436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146304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坐标</a:t>
            </a:r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377440" y="1810512"/>
            <a:ext cx="301752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故事</a:t>
            </a:r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5486400" y="1810512"/>
            <a:ext cx="260604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启示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183879" y="1810512"/>
            <a:ext cx="3154680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我们的做法</a:t>
            </a:r>
            <a:endParaRPr sz="2400"/>
          </a:p>
        </p:txBody>
      </p:sp>
      <p:sp>
        <p:nvSpPr>
          <p:cNvPr id="13" name="Rectangle 12"/>
          <p:cNvSpPr/>
          <p:nvPr/>
        </p:nvSpPr>
        <p:spPr>
          <a:xfrm>
            <a:off x="822960" y="2468880"/>
            <a:ext cx="10515600" cy="1143000"/>
          </a:xfrm>
          <a:prstGeom prst="rect">
            <a:avLst/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1288" y="2606040"/>
            <a:ext cx="868680" cy="8686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0782" y="2675534"/>
            <a:ext cx="729691" cy="729691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2606040"/>
            <a:ext cx="86868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3700"/>
          </a:p>
        </p:txBody>
      </p:sp>
      <p:sp>
        <p:nvSpPr>
          <p:cNvPr id="17" name="TextBox 16"/>
          <p:cNvSpPr txBox="1"/>
          <p:nvPr/>
        </p:nvSpPr>
        <p:spPr>
          <a:xfrm>
            <a:off x="2377440" y="2468880"/>
            <a:ext cx="301752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被忽视的助理员</a:t>
            </a:r>
            <a:endParaRPr sz="2200"/>
          </a:p>
        </p:txBody>
      </p:sp>
      <p:sp>
        <p:nvSpPr>
          <p:cNvPr id="18" name="TextBox 17"/>
          <p:cNvSpPr txBox="1"/>
          <p:nvPr/>
        </p:nvSpPr>
        <p:spPr>
          <a:xfrm>
            <a:off x="5486400" y="2468880"/>
            <a:ext cx="260604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在不起眼处坚持</a:t>
            </a:r>
            <a:endParaRPr sz="2600"/>
          </a:p>
        </p:txBody>
      </p:sp>
      <p:sp>
        <p:nvSpPr>
          <p:cNvPr id="19" name="TextBox 18"/>
          <p:cNvSpPr txBox="1"/>
          <p:nvPr/>
        </p:nvSpPr>
        <p:spPr>
          <a:xfrm>
            <a:off x="8183879" y="2468880"/>
            <a:ext cx="315468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党员联系学生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让学生被看见</a:t>
            </a:r>
            <a:endParaRPr sz="2200"/>
          </a:p>
        </p:txBody>
      </p:sp>
      <p:sp>
        <p:nvSpPr>
          <p:cNvPr id="20" name="Rectangle 19"/>
          <p:cNvSpPr/>
          <p:nvPr/>
        </p:nvSpPr>
        <p:spPr>
          <a:xfrm>
            <a:off x="822960" y="3675888"/>
            <a:ext cx="105156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1288" y="3813048"/>
            <a:ext cx="868680" cy="8686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0782" y="3882542"/>
            <a:ext cx="729691" cy="729691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3813048"/>
            <a:ext cx="86868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3700"/>
          </a:p>
        </p:txBody>
      </p:sp>
      <p:sp>
        <p:nvSpPr>
          <p:cNvPr id="24" name="TextBox 23"/>
          <p:cNvSpPr txBox="1"/>
          <p:nvPr/>
        </p:nvSpPr>
        <p:spPr>
          <a:xfrm>
            <a:off x="2377440" y="3675888"/>
            <a:ext cx="301752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日记里的五个圈</a:t>
            </a:r>
            <a:endParaRPr sz="2200"/>
          </a:p>
        </p:txBody>
      </p:sp>
      <p:sp>
        <p:nvSpPr>
          <p:cNvPr id="25" name="TextBox 24"/>
          <p:cNvSpPr txBox="1"/>
          <p:nvPr/>
        </p:nvSpPr>
        <p:spPr>
          <a:xfrm>
            <a:off x="5486400" y="3675888"/>
            <a:ext cx="260604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在艰难处坚守</a:t>
            </a:r>
            <a:endParaRPr sz="2600"/>
          </a:p>
        </p:txBody>
      </p:sp>
      <p:sp>
        <p:nvSpPr>
          <p:cNvPr id="26" name="TextBox 25"/>
          <p:cNvSpPr txBox="1"/>
          <p:nvPr/>
        </p:nvSpPr>
        <p:spPr>
          <a:xfrm>
            <a:off x="8183879" y="3675888"/>
            <a:ext cx="315468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行走的党日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党员一个个到场</a:t>
            </a:r>
            <a:endParaRPr sz="2200"/>
          </a:p>
        </p:txBody>
      </p:sp>
      <p:sp>
        <p:nvSpPr>
          <p:cNvPr id="27" name="Rectangle 26"/>
          <p:cNvSpPr/>
          <p:nvPr/>
        </p:nvSpPr>
        <p:spPr>
          <a:xfrm>
            <a:off x="822960" y="4882896"/>
            <a:ext cx="10515600" cy="1143000"/>
          </a:xfrm>
          <a:prstGeom prst="rect">
            <a:avLst/>
          </a:prstGeom>
          <a:solidFill>
            <a:srgbClr val="F3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61288" y="5020056"/>
            <a:ext cx="868680" cy="86868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30782" y="5089550"/>
            <a:ext cx="729691" cy="729691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5020056"/>
            <a:ext cx="86868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37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3700"/>
          </a:p>
        </p:txBody>
      </p:sp>
      <p:sp>
        <p:nvSpPr>
          <p:cNvPr id="31" name="TextBox 30"/>
          <p:cNvSpPr txBox="1"/>
          <p:nvPr/>
        </p:nvSpPr>
        <p:spPr>
          <a:xfrm>
            <a:off x="2377440" y="4882896"/>
            <a:ext cx="301752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船头放哨的人</a:t>
            </a:r>
            <a:endParaRPr sz="2200"/>
          </a:p>
        </p:txBody>
      </p:sp>
      <p:sp>
        <p:nvSpPr>
          <p:cNvPr id="32" name="TextBox 31"/>
          <p:cNvSpPr txBox="1"/>
          <p:nvPr/>
        </p:nvSpPr>
        <p:spPr>
          <a:xfrm>
            <a:off x="5486400" y="4882896"/>
            <a:ext cx="260604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在小单元里担当</a:t>
            </a:r>
            <a:endParaRPr sz="2600"/>
          </a:p>
        </p:txBody>
      </p:sp>
      <p:sp>
        <p:nvSpPr>
          <p:cNvPr id="33" name="TextBox 32"/>
          <p:cNvSpPr txBox="1"/>
          <p:nvPr/>
        </p:nvSpPr>
        <p:spPr>
          <a:xfrm>
            <a:off x="8183879" y="4882896"/>
            <a:ext cx="315468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谈心有记录有跟进</a:t>
            </a:r>
            <a:endParaRPr sz="2200"/>
          </a:p>
          <a:p>
            <a:pPr algn="ctr">
              <a:lnSpc>
                <a:spcPct val="110000"/>
              </a:lnSpc>
            </a:pPr>
            <a:r>
              <a:rPr sz="220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育人要走心</a:t>
            </a:r>
            <a:endParaRPr sz="2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E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9944"/>
            <a:ext cx="12191695" cy="36576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60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山河在望  坐标在心</a:t>
            </a:r>
            <a:endParaRPr sz="6000"/>
          </a:p>
        </p:txBody>
      </p:sp>
      <p:sp>
        <p:nvSpPr>
          <p:cNvPr id="5" name="Rectangle 4"/>
          <p:cNvSpPr/>
          <p:nvPr/>
        </p:nvSpPr>
        <p:spPr>
          <a:xfrm>
            <a:off x="5184648" y="2130552"/>
            <a:ext cx="1828800" cy="4572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77295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在自己的坐标上，写好属于我们这一代人的那一笔</a:t>
            </a:r>
            <a:endParaRPr sz="3000"/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983480" cy="17830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983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同学们</a:t>
            </a:r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98348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认真实训 · 彼此包容 · 直面挫折</a:t>
            </a:r>
            <a:endParaRPr sz="2400"/>
          </a:p>
        </p:txBody>
      </p:sp>
      <p:sp>
        <p:nvSpPr>
          <p:cNvPr id="10" name="Rounded Rectangle 9"/>
          <p:cNvSpPr/>
          <p:nvPr/>
        </p:nvSpPr>
        <p:spPr>
          <a:xfrm>
            <a:off x="6263640" y="3291840"/>
            <a:ext cx="4983480" cy="178308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429000"/>
            <a:ext cx="4983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老师们</a:t>
            </a:r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263640" y="4023360"/>
            <a:ext cx="498348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把每一件小事做细做实</a:t>
            </a:r>
            <a:endParaRPr sz="2400"/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守好自己那一份</a:t>
            </a:r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11277295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3400" b="1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这就是对红色精神最好的传承</a:t>
            </a:r>
            <a:endParaRPr sz="3400"/>
          </a:p>
        </p:txBody>
      </p:sp>
      <p:sp>
        <p:nvSpPr>
          <p:cNvPr id="14" name="TextBox 13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F7E7C6"/>
                </a:solidFill>
                <a:latin typeface="Microsoft YaHei"/>
                <a:ea typeface="Microsoft YaHei"/>
                <a:cs typeface="Microsoft YaHei"/>
              </a:rPr>
              <a:t>28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E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6070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交流时间</a:t>
            </a:r>
            <a:endParaRPr sz="3600"/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97280" cy="54864"/>
          </a:xfrm>
          <a:prstGeom prst="rect">
            <a:avLst/>
          </a:prstGeom>
          <a:solidFill>
            <a:srgbClr val="C8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0" y="6263640"/>
            <a:ext cx="1371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r">
              <a:lnSpc>
                <a:spcPct val="120000"/>
              </a:lnSpc>
            </a:pPr>
            <a:r>
              <a:rPr sz="2000" b="0">
                <a:solidFill>
                  <a:srgbClr val="C8A15A"/>
                </a:solidFill>
                <a:latin typeface="Microsoft YaHei"/>
                <a:ea typeface="Microsoft YaHei"/>
                <a:cs typeface="Microsoft YaHei"/>
              </a:rPr>
              <a:t>29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这三个坐标里，</a:t>
            </a:r>
            <a:r>
              <a:rPr sz="4000" b="1">
                <a:solidFill>
                  <a:srgbClr val="9E1B1B"/>
                </a:solidFill>
                <a:latin typeface="Microsoft YaHei"/>
                <a:ea typeface="Microsoft YaHei"/>
                <a:cs typeface="Microsoft YaHei"/>
              </a:rPr>
              <a:t>哪一个最触动你？</a:t>
            </a:r>
            <a:endParaRPr sz="4000"/>
          </a:p>
        </p:txBody>
      </p:sp>
      <p:sp>
        <p:nvSpPr>
          <p:cNvPr id="8" name="Rectangle 7"/>
          <p:cNvSpPr/>
          <p:nvPr/>
        </p:nvSpPr>
        <p:spPr>
          <a:xfrm>
            <a:off x="1965960" y="2880360"/>
            <a:ext cx="1280160" cy="128016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68372" y="2982772"/>
            <a:ext cx="1075334" cy="107533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128016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楼</a:t>
            </a:r>
            <a:endParaRPr sz="5500"/>
          </a:p>
        </p:txBody>
      </p:sp>
      <p:sp>
        <p:nvSpPr>
          <p:cNvPr id="11" name="TextBox 10"/>
          <p:cNvSpPr txBox="1"/>
          <p:nvPr/>
        </p:nvSpPr>
        <p:spPr>
          <a:xfrm>
            <a:off x="1143000" y="4251960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北大红楼</a:t>
            </a:r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5440680" y="2880360"/>
            <a:ext cx="1280160" cy="128016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43092" y="2982772"/>
            <a:ext cx="1075334" cy="107533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880360"/>
            <a:ext cx="128016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房</a:t>
            </a:r>
            <a:endParaRPr sz="5500"/>
          </a:p>
        </p:txBody>
      </p:sp>
      <p:sp>
        <p:nvSpPr>
          <p:cNvPr id="15" name="TextBox 14"/>
          <p:cNvSpPr txBox="1"/>
          <p:nvPr/>
        </p:nvSpPr>
        <p:spPr>
          <a:xfrm>
            <a:off x="4617720" y="4251960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上海石库门</a:t>
            </a:r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915400" y="2880360"/>
            <a:ext cx="1280160" cy="1280160"/>
          </a:xfrm>
          <a:prstGeom prst="rect">
            <a:avLst/>
          </a:prstGeom>
          <a:solidFill>
            <a:srgbClr val="9E1B1B"/>
          </a:solidFill>
          <a:ln w="3175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7812" y="2982772"/>
            <a:ext cx="1075334" cy="1075334"/>
          </a:xfrm>
          <a:prstGeom prst="rect">
            <a:avLst/>
          </a:prstGeom>
          <a:noFill/>
          <a:ln w="12700">
            <a:solidFill>
              <a:srgbClr val="C8A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880360"/>
            <a:ext cx="128016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0" b="1">
                <a:solidFill>
                  <a:srgbClr val="C8A15A"/>
                </a:solidFill>
                <a:latin typeface="KaiTi"/>
                <a:ea typeface="KaiTi"/>
                <a:cs typeface="KaiTi"/>
              </a:rPr>
              <a:t>船</a:t>
            </a:r>
            <a:endParaRPr sz="5500"/>
          </a:p>
        </p:txBody>
      </p:sp>
      <p:sp>
        <p:nvSpPr>
          <p:cNvPr id="19" name="TextBox 18"/>
          <p:cNvSpPr txBox="1"/>
          <p:nvPr/>
        </p:nvSpPr>
        <p:spPr>
          <a:xfrm>
            <a:off x="8092440" y="4251960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南湖红船</a:t>
            </a:r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7A1212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  <a:endParaRPr sz="4400"/>
          </a:p>
        </p:txBody>
      </p:sp>
      <p:sp>
        <p:nvSpPr>
          <p:cNvPr id="21" name="TextBox 2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A5A5A"/>
                </a:solidFill>
                <a:latin typeface="Microsoft YaHei"/>
                <a:ea typeface="Microsoft YaHei"/>
                <a:cs typeface="Microsoft YaHei"/>
              </a:rPr>
              <a:t>分享人：周央红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