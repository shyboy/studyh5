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各位老师、同学们：大家好！今天我分享的题目是《一栋楼、一幢房、一只船》。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0.6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先问大家一个问题：如果让你用一个物件来代表中国共产党的起点，你会想到什么？（稍作停顿）一本书里给了三个答案——一栋楼、一幢房、一只船。今天我就从这三个物件说起。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这本书叫《望山河》，湖南人民出版社出版，陈晋主编，全书三十七篇，一个地方一篇，入选今年一、二月“中国好书”。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0.6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选读的是前三篇：李舫写北大红楼，张军锋写上海石库门，梁衡写南湖红船。三篇连起来，正好是中国共产党从思想准备到组织诞生、再到扬帆启航的一段路。陈晋在序言中说：“所谓望，就是走近历史坐标、体会历史坐标、抒写历史坐标。”今天我们就一起走近这三个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0.7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一节，一栋楼——北大红楼。1918年秋天，一位二十五岁的青年人走进北大红楼，在图书馆第二阅览室当助理员，每月八块大洋，工作是登记来馆读报者的姓名。他后来回忆说：“我的职位低微，大家都不理我……他们都是些大忙人，没有时间听一个图书馆助理员说南方话。”这位青年，就是毛泽东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也是在这栋楼里，1920年，李大钊指导成立了北京共产党小组。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感悟是：一个后来改变中国的人，当年也有过被忽视、说不上话的时候。他没有因此停下，而是在没人留意的地方把事做好。同学们，你们现在学的每一项技能、完成的每一次实训，就像当年那位图书馆助理员登记每一个名字一样——看似不起眼，但坚持做下去，就会成为你未来的底气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回到我们的工作。我们学校是技工学校，不少同学在初中阶段很少被表扬，进了校门还是低着头。他们需要的不是一句鼓励，是有人真正看见他。支部的做法是党员联系学生：每名党员固定联系一到两名重点关注的同学，定期谈心谈话，问学习、问家里、问心里的打算。这类同学大多安静内敛，不会主动来找人，只有靠人去找——把话说到他心里去，帮他把自信找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0.6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二节，一幢房——上海石库门。1921年7月23日晚上，十三位年轻人走进上海法租界望志路106号，在一间十八平方米的客厅里开会。他们代表全国五十多名党员，平均年龄二十八岁，最小的才十九岁。会开到第八天晚上，法租界巡捕房的密探闯了进来，会议被迫中断，最后一天转移到嘉兴南湖的一条游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0.7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何叔衡和毛泽东从长沙动身那天，何叔衡的好友谢觉哉在日记里只写了一句：“午后6时叔衡往上海，偕行者润之，赴全国○○○○○之招。”那五个圈，指的就是“共产主义者”——当时这几个字不能写出来。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我的感悟是：一群人做着最危险的事，落笔时却连几个字都不敢写全。他们不知道前路如何，却都到了场、留了下来。信仰的分量，不在场面宏大时，而在处境艰难处。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0.9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同学们，你们在学校里也会遇到难的时候——考试没过、技能练不好、跟同学闹了别扭。这些时候能不能沉住气、不放弃，往往决定了你能走多远。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放在学生科的工作上，这份分量就是帮扶台账不能只挂个名字，要动态更新、摸排到人。我们支部有一项做法叫“行走的党日”，就是不在会议室里关起门搞，把党日放到学生中间去：学生报到、宿舍走访、考前和实习前的谈心，这些日常场景里，党员该在的时候要在。学生的困难是一件一件解决的，做工作的人也得一个一个到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三节，一只船——南湖红船。梁衡专程赶到嘉兴南湖，站在船边写下：“这是一只多么小的船啊，要低头弯腰才能进入舱内，刚能容下十几个人促膝侧坐。”他又问：“我真不敢想，我们轰轰烈烈、排山倒海的八十年就是从这条船舱里倾泻出来的吗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0.8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当时在船头放哨的是李达的夫人王会悟，她是嘉兴人，把会议转移到南湖就是她的提议。那天下午湖面驶过一条汽艇，她疑心是警情，赶紧发暗号，船舱里立刻响起一片麻将声。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感悟是：那么大的事，是从一条小船里开始的，是从一个放哨的人、一个提议的人开始的。各人做好自己那一份，事情才成。育人也是一样：学生的成长，靠的不是一次大会、一场活动，而是班级、宿舍这些最小单元里一次次的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0.9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同学们，你们每个人在班级里、在宿舍里，也可以成为那个“放哨的人”——看到同学情绪不对，主动问一句；看到室友遇到困难，伸手帮一把。大事往往就是从这些小事里长出来的。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回到我们的工作，育人说到底要走心。支部重点抓两件事：一是“行走的党日”，让学生在日常场景里看得见党员；二是党员联系学生，谈心谈话落到人头上，每次谈完有记录、有跟进，不走过场。我自己也带个头，支部的学习体会先在党员中交流，用得上的班会素材再整理出来，不另起一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0.9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山河在望，坐标在心。陈晋在序言中说：“所谓望，就是走近历史坐标、体会历史坐标、抒写历史坐标。”今天我们走近了红楼、石库门和红船这三个坐标，接下来要做的，就是在自己的坐标上写好属于我们这一代人的那一笔。同学们在校园里认真实训、彼此包容、直面挫折，老师们把每一件小事做细做实，守好自己那一份——这就是对红色精神最好的传承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我的分享就到这里。这三个坐标里，哪一个最触动你？欢迎分享结束后一起交流。谢谢大家。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（本页不讲，仅作图片署名）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77639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53535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46120"/>
            <a:ext cx="4053535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 · 北大红楼</a:t>
            </a:r>
            <a:endParaRPr sz="2200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0"/>
            <a:ext cx="4053535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69080" y="3246120"/>
            <a:ext cx="4053535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一幢房 · 上海石库门</a:t>
            </a:r>
            <a:endParaRPr sz="2200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0"/>
            <a:ext cx="4053535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3246120"/>
            <a:ext cx="4053535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一只船 · 南湖红船</a:t>
            </a:r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一栋楼、一幢房、一只船</a:t>
            </a:r>
            <a:endParaRPr sz="5400"/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11277295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——《望山河》前三篇读书分享</a:t>
            </a:r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77295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分享人：周央红（学生科党支部书记）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55778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开场一问</a:t>
            </a:r>
            <a:endParaRPr sz="32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57784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如果让你用</a:t>
            </a:r>
            <a:r>
              <a:rPr sz="3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一个物件</a:t>
            </a:r>
            <a:endParaRPr sz="3200"/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来代表中国共产党的起点，</a:t>
            </a:r>
            <a:endParaRPr sz="3200"/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你会想到什么？</a:t>
            </a:r>
            <a:endParaRPr sz="3200"/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5577840" cy="18288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4343400"/>
            <a:ext cx="1005840" cy="14630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343400"/>
            <a:ext cx="100584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望</a:t>
            </a:r>
            <a:endParaRPr sz="2200"/>
          </a:p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山</a:t>
            </a:r>
            <a:endParaRPr sz="2200"/>
          </a:p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河</a:t>
            </a:r>
            <a:endParaRPr sz="2200"/>
          </a:p>
        </p:txBody>
      </p:sp>
      <p:sp>
        <p:nvSpPr>
          <p:cNvPr id="11" name="TextBox 10"/>
          <p:cNvSpPr txBox="1"/>
          <p:nvPr/>
        </p:nvSpPr>
        <p:spPr>
          <a:xfrm>
            <a:off x="2286000" y="4279392"/>
            <a:ext cx="4023360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《望山河》</a:t>
            </a:r>
            <a:endParaRPr sz="2000"/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湖南人民出版社 · 陈晋 主编</a:t>
            </a:r>
            <a:endParaRPr sz="2000"/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全书37篇，一地一篇</a:t>
            </a:r>
            <a:endParaRPr sz="2000"/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入选今年一、二月“中国好书”</a:t>
            </a:r>
            <a:endParaRPr sz="2000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20040"/>
            <a:ext cx="512064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95160" y="640080"/>
            <a:ext cx="27432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</a:t>
            </a:r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995160" y="132588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200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512064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95160" y="2606040"/>
            <a:ext cx="27432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一幢房</a:t>
            </a:r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6995160" y="329184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上海石库门</a:t>
            </a:r>
            <a:endParaRPr sz="2200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251959"/>
            <a:ext cx="512064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95160" y="4571999"/>
            <a:ext cx="27432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一只船</a:t>
            </a:r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6995160" y="525780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南湖红船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三篇文章 · 三个坐标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2000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3291840" cy="210312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822960" y="1828800"/>
            <a:ext cx="1600200" cy="4572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1918—1920</a:t>
            </a:r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思想准备</a:t>
            </a:r>
            <a:endParaRPr sz="3000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李舫 · 北大红楼</a:t>
            </a:r>
            <a:endParaRPr sz="2200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28800"/>
            <a:ext cx="3291840" cy="210312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434840" y="1828800"/>
            <a:ext cx="1600200" cy="4572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1921年7月</a:t>
            </a:r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434840" y="402336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组织诞生</a:t>
            </a:r>
            <a:endParaRPr sz="3000"/>
          </a:p>
        </p:txBody>
      </p:sp>
      <p:sp>
        <p:nvSpPr>
          <p:cNvPr id="16" name="TextBox 15"/>
          <p:cNvSpPr txBox="1"/>
          <p:nvPr/>
        </p:nvSpPr>
        <p:spPr>
          <a:xfrm>
            <a:off x="4434840" y="45720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张军锋 · 上海石库门</a:t>
            </a:r>
            <a:endParaRPr sz="2200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828800"/>
            <a:ext cx="3291840" cy="210312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8046720" y="1828800"/>
            <a:ext cx="1600200" cy="4572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1921年夏</a:t>
            </a:r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8046720" y="402336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扬帆启航</a:t>
            </a:r>
            <a:endParaRPr sz="3000"/>
          </a:p>
        </p:txBody>
      </p:sp>
      <p:sp>
        <p:nvSpPr>
          <p:cNvPr id="21" name="TextBox 20"/>
          <p:cNvSpPr txBox="1"/>
          <p:nvPr/>
        </p:nvSpPr>
        <p:spPr>
          <a:xfrm>
            <a:off x="8046720" y="45720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梁衡 · 南湖红船</a:t>
            </a:r>
            <a:endParaRPr sz="2200"/>
          </a:p>
        </p:txBody>
      </p:sp>
      <p:sp>
        <p:nvSpPr>
          <p:cNvPr id="22" name="Rectangle 21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38928"/>
            <a:ext cx="1051560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KaiTi"/>
                <a:ea typeface="KaiTi"/>
                <a:cs typeface="KaiTi"/>
              </a:rPr>
              <a:t>所谓望，就是走近历史坐标、体会历史坐标、抒写历史坐标。</a:t>
            </a:r>
            <a:endParaRPr sz="2600"/>
          </a:p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C8A15A"/>
                </a:solidFill>
                <a:latin typeface="KaiTi"/>
                <a:ea typeface="KaiTi"/>
                <a:cs typeface="KaiTi"/>
              </a:rPr>
              <a:t>——陈晋《望山河》序言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892040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第一节</a:t>
            </a:r>
            <a:endParaRPr sz="2200"/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42062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577840" y="502920"/>
            <a:ext cx="59436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红楼里的图书馆助理员</a:t>
            </a:r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5577840" y="129844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508760"/>
            <a:ext cx="585216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1918年秋，一位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二十五岁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的青年人走进北大红楼，在图书馆第二阅览室当助理员，每月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八块大洋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，工作是登记来馆读报者的姓名。</a:t>
            </a:r>
            <a:endParaRPr sz="2200"/>
          </a:p>
        </p:txBody>
      </p:sp>
      <p:sp>
        <p:nvSpPr>
          <p:cNvPr id="9" name="Rounded Rectangle 8"/>
          <p:cNvSpPr/>
          <p:nvPr/>
        </p:nvSpPr>
        <p:spPr>
          <a:xfrm>
            <a:off x="5577840" y="2926080"/>
            <a:ext cx="5852160" cy="22860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108960"/>
            <a:ext cx="1417320" cy="1600200"/>
          </a:xfrm>
          <a:prstGeom prst="rect">
            <a:avLst/>
          </a:prstGeom>
          <a:ln w="19050">
            <a:solidFill>
              <a:srgbClr val="C8A15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0" y="4736592"/>
            <a:ext cx="1600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1919年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7360920" y="3017520"/>
            <a:ext cx="3977639" cy="2148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“我的职位低微，大家都不理我……他们都是些大忙人，没有时间听一个图书馆助理员说南方话。”</a:t>
            </a:r>
            <a:endParaRPr sz="2200"/>
          </a:p>
          <a:p>
            <a:pPr algn="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——毛泽东 回忆</a:t>
            </a:r>
            <a:endParaRPr sz="2200"/>
          </a:p>
        </p:txBody>
      </p:sp>
      <p:sp>
        <p:nvSpPr>
          <p:cNvPr id="13" name="TextBox 12"/>
          <p:cNvSpPr txBox="1"/>
          <p:nvPr/>
        </p:nvSpPr>
        <p:spPr>
          <a:xfrm>
            <a:off x="5577840" y="5349240"/>
            <a:ext cx="58521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也是在这栋楼里，1920年，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李大钊指导成立了北京共产党小组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  <p:sp>
        <p:nvSpPr>
          <p:cNvPr id="14" name="TextBox 13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7589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 · 体会与行动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758952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在没人留意的地方，把事做好</a:t>
            </a:r>
            <a:endParaRPr sz="32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901952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我的感悟</a:t>
            </a:r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589788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一个后来改变中国的人，当年也有过被忽视、说不上话的时候。他没有因此停下，而是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在没人留意的地方把事做好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  <p:sp>
        <p:nvSpPr>
          <p:cNvPr id="11" name="Rectangle 10"/>
          <p:cNvSpPr/>
          <p:nvPr/>
        </p:nvSpPr>
        <p:spPr>
          <a:xfrm>
            <a:off x="822960" y="3035808"/>
            <a:ext cx="7589520" cy="18288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182112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82112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对同学们说</a:t>
            </a:r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2514600" y="3108960"/>
            <a:ext cx="589788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每一项技能、每一次实训，就像登记每一个名字——看似不起眼，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坚持做下去，就会成为你未来的底气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  <p:sp>
        <p:nvSpPr>
          <p:cNvPr id="15" name="Rectangle 14"/>
          <p:cNvSpPr/>
          <p:nvPr/>
        </p:nvSpPr>
        <p:spPr>
          <a:xfrm>
            <a:off x="822960" y="4315968"/>
            <a:ext cx="7589520" cy="18288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62272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回到工作</a:t>
            </a:r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2514600" y="4389120"/>
            <a:ext cx="589788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他们需要的不是一句鼓励，是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有人真正看见他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。党员联系学生：每名党员固定联系1—2名重点关注的同学，问学习、问家里、问打算。</a:t>
            </a:r>
            <a:endParaRPr sz="2200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548640"/>
            <a:ext cx="2834640" cy="420624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8732520" y="4800600"/>
            <a:ext cx="28346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早年的北大红楼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108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5486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</a:t>
            </a:r>
            <a:endParaRPr sz="2200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486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一幢房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9436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上海石库门 · 1921年7月23日晚</a:t>
            </a:r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1828800" cy="15544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182880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8288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位</a:t>
            </a:r>
            <a:endParaRPr sz="4000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828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出席代表</a:t>
            </a:r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2834640" y="3383280"/>
            <a:ext cx="1828800" cy="15544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3383280"/>
            <a:ext cx="182880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520440"/>
            <a:ext cx="18288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18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㎡</a:t>
            </a:r>
            <a:endParaRPr sz="4000"/>
          </a:p>
        </p:txBody>
      </p:sp>
      <p:sp>
        <p:nvSpPr>
          <p:cNvPr id="13" name="TextBox 12"/>
          <p:cNvSpPr txBox="1"/>
          <p:nvPr/>
        </p:nvSpPr>
        <p:spPr>
          <a:xfrm>
            <a:off x="2834640" y="4389120"/>
            <a:ext cx="1828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客厅面积</a:t>
            </a:r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4846320" y="3383280"/>
            <a:ext cx="1828800" cy="15544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3383280"/>
            <a:ext cx="182880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520440"/>
            <a:ext cx="18288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28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岁</a:t>
            </a:r>
            <a:endParaRPr sz="4000"/>
          </a:p>
        </p:txBody>
      </p:sp>
      <p:sp>
        <p:nvSpPr>
          <p:cNvPr id="17" name="TextBox 16"/>
          <p:cNvSpPr txBox="1"/>
          <p:nvPr/>
        </p:nvSpPr>
        <p:spPr>
          <a:xfrm>
            <a:off x="4846320" y="4389120"/>
            <a:ext cx="1828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平均年龄</a:t>
            </a:r>
            <a:endParaRPr sz="2000"/>
          </a:p>
        </p:txBody>
      </p:sp>
      <p:sp>
        <p:nvSpPr>
          <p:cNvPr id="18" name="Rounded Rectangle 17"/>
          <p:cNvSpPr/>
          <p:nvPr/>
        </p:nvSpPr>
        <p:spPr>
          <a:xfrm>
            <a:off x="6858000" y="3383280"/>
            <a:ext cx="1828800" cy="15544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3383280"/>
            <a:ext cx="1828800" cy="7315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520440"/>
            <a:ext cx="18288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19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岁</a:t>
            </a:r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6858000" y="4389120"/>
            <a:ext cx="1828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最小代表</a:t>
            </a:r>
            <a:endParaRPr sz="2000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3383280"/>
            <a:ext cx="2331720" cy="155448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006840" y="4956048"/>
            <a:ext cx="23317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望志路106号</a:t>
            </a:r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941832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代表全国五十多名党员。会开到第八天晚上，密探闯入，会议被迫中断；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最后一天转移到嘉兴南湖的一条游船上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  <p:sp>
        <p:nvSpPr>
          <p:cNvPr id="25" name="TextBox 24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6035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6035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日记里的五个圈</a:t>
            </a:r>
            <a:endParaRPr sz="32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0350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何叔衡和毛泽东从长沙动身那天，好友谢觉哉在日记里只写了一句：</a:t>
            </a:r>
            <a:endParaRPr sz="2200"/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6035040" cy="15544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6035040" cy="1554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“午后6时叔衡往上海，</a:t>
            </a:r>
            <a:endParaRPr sz="2600"/>
          </a:p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偕行者润之，</a:t>
            </a:r>
            <a:endParaRPr sz="2600"/>
          </a:p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赴全国</a:t>
            </a:r>
            <a:r>
              <a:rPr sz="2600" b="1">
                <a:solidFill>
                  <a:srgbClr val="9E1B1B"/>
                </a:solidFill>
                <a:latin typeface="KaiTi"/>
                <a:ea typeface="KaiTi"/>
                <a:cs typeface="KaiTi"/>
              </a:rPr>
              <a:t>○○○○○</a:t>
            </a:r>
            <a:r>
              <a:rPr sz="26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之招。”</a:t>
            </a:r>
            <a:endParaRPr sz="2600"/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603504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○○○○○ ＝ 共产主义者</a:t>
            </a:r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603504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当时，这几个字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不能写出来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502920"/>
            <a:ext cx="4114800" cy="265176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7223760" y="3337560"/>
            <a:ext cx="4114800" cy="269748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3474720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我的感悟</a:t>
            </a:r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7452360" y="3931920"/>
            <a:ext cx="370332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一群人做着最危险的事，落笔时却连几个字都不敢写全。</a:t>
            </a:r>
            <a:endParaRPr sz="2200"/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信仰的分量，不在场面宏大时，而在处境艰难处。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 · 体会与行动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做工作的人，要一个一个到场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572000" cy="37033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023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对同学们说</a:t>
            </a:r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4023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难的时候——</a:t>
            </a:r>
            <a:endParaRPr sz="2200"/>
          </a:p>
        </p:txBody>
      </p:sp>
      <p:sp>
        <p:nvSpPr>
          <p:cNvPr id="11" name="Rounded Rectangle 10"/>
          <p:cNvSpPr/>
          <p:nvPr/>
        </p:nvSpPr>
        <p:spPr>
          <a:xfrm>
            <a:off x="1097280" y="288036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40233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考试没过</a:t>
            </a:r>
            <a:endParaRPr sz="2200"/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74720"/>
            <a:ext cx="40233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技能练不好</a:t>
            </a:r>
            <a:endParaRPr sz="2200"/>
          </a:p>
        </p:txBody>
      </p:sp>
      <p:sp>
        <p:nvSpPr>
          <p:cNvPr id="15" name="Rounded Rectangle 14"/>
          <p:cNvSpPr/>
          <p:nvPr/>
        </p:nvSpPr>
        <p:spPr>
          <a:xfrm>
            <a:off x="1097280" y="406908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40233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跟同学闹了别扭</a:t>
            </a:r>
            <a:endParaRPr sz="2200"/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40233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能不能沉住气、不放弃，往往决定了你能走多远。</a:t>
            </a:r>
            <a:endParaRPr sz="2200"/>
          </a:p>
        </p:txBody>
      </p:sp>
      <p:sp>
        <p:nvSpPr>
          <p:cNvPr id="18" name="TextBox 17"/>
          <p:cNvSpPr txBox="1"/>
          <p:nvPr/>
        </p:nvSpPr>
        <p:spPr>
          <a:xfrm>
            <a:off x="5669280" y="1828800"/>
            <a:ext cx="56692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回到工作</a:t>
            </a:r>
            <a:endParaRPr sz="2400"/>
          </a:p>
        </p:txBody>
      </p:sp>
      <p:sp>
        <p:nvSpPr>
          <p:cNvPr id="19" name="Rounded Rectangle 18"/>
          <p:cNvSpPr/>
          <p:nvPr/>
        </p:nvSpPr>
        <p:spPr>
          <a:xfrm>
            <a:off x="5669280" y="2377440"/>
            <a:ext cx="5669280" cy="10515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377440"/>
            <a:ext cx="534924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帮扶台账：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不能只挂个名字，要动态更新、摸排到人。</a:t>
            </a:r>
            <a:endParaRPr sz="2200"/>
          </a:p>
        </p:txBody>
      </p:sp>
      <p:sp>
        <p:nvSpPr>
          <p:cNvPr id="21" name="Rounded Rectangle 20"/>
          <p:cNvSpPr/>
          <p:nvPr/>
        </p:nvSpPr>
        <p:spPr>
          <a:xfrm>
            <a:off x="5669280" y="3566160"/>
            <a:ext cx="5669280" cy="19659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3639312"/>
            <a:ext cx="53492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行走的党日：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不在会议室里关起门搞，把党日放到学生中间去</a:t>
            </a:r>
            <a:endParaRPr sz="2200"/>
          </a:p>
        </p:txBody>
      </p:sp>
      <p:sp>
        <p:nvSpPr>
          <p:cNvPr id="23" name="Rounded Rectangle 22"/>
          <p:cNvSpPr/>
          <p:nvPr/>
        </p:nvSpPr>
        <p:spPr>
          <a:xfrm>
            <a:off x="5852160" y="446227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4462272"/>
            <a:ext cx="25603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学生报到</a:t>
            </a:r>
            <a:endParaRPr sz="2000"/>
          </a:p>
        </p:txBody>
      </p:sp>
      <p:sp>
        <p:nvSpPr>
          <p:cNvPr id="25" name="Rounded Rectangle 24"/>
          <p:cNvSpPr/>
          <p:nvPr/>
        </p:nvSpPr>
        <p:spPr>
          <a:xfrm>
            <a:off x="8549640" y="446227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462272"/>
            <a:ext cx="25603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宿舍走访</a:t>
            </a:r>
            <a:endParaRPr sz="2000"/>
          </a:p>
        </p:txBody>
      </p:sp>
      <p:sp>
        <p:nvSpPr>
          <p:cNvPr id="27" name="Rounded Rectangle 26"/>
          <p:cNvSpPr/>
          <p:nvPr/>
        </p:nvSpPr>
        <p:spPr>
          <a:xfrm>
            <a:off x="5852160" y="499262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4992624"/>
            <a:ext cx="25603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考前谈心</a:t>
            </a:r>
            <a:endParaRPr sz="2000"/>
          </a:p>
        </p:txBody>
      </p:sp>
      <p:sp>
        <p:nvSpPr>
          <p:cNvPr id="29" name="Rounded Rectangle 28"/>
          <p:cNvSpPr/>
          <p:nvPr/>
        </p:nvSpPr>
        <p:spPr>
          <a:xfrm>
            <a:off x="8549640" y="499262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4992624"/>
            <a:ext cx="25603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实习前谈心</a:t>
            </a:r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95097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学生的困难是一件一件解决的，做工作的人也得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一个一个到场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12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434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611880"/>
            <a:ext cx="105156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第三节 · 一只船 · 南湖红船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822960" y="4370832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KaiTi"/>
                <a:ea typeface="KaiTi"/>
                <a:cs typeface="KaiTi"/>
              </a:rPr>
              <a:t>“这是一只多么小的船啊，要低头弯腰才能进入舱内，刚能容下十几个人促膝侧坐。”</a:t>
            </a:r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22960" y="513892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KaiTi"/>
                <a:ea typeface="KaiTi"/>
                <a:cs typeface="KaiTi"/>
              </a:rPr>
              <a:t>“我真不敢想，我们轰轰烈烈、排山倒海的八十年就是从这条船舱里倾泻出来的吗？”</a:t>
            </a:r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5916168"/>
            <a:ext cx="9509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——梁衡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0" y="384048"/>
            <a:ext cx="74066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3931920" y="749808"/>
            <a:ext cx="7406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船头放哨的人</a:t>
            </a:r>
            <a:endParaRPr sz="3200"/>
          </a:p>
        </p:txBody>
      </p:sp>
      <p:sp>
        <p:nvSpPr>
          <p:cNvPr id="6" name="Rectangle 5"/>
          <p:cNvSpPr/>
          <p:nvPr/>
        </p:nvSpPr>
        <p:spPr>
          <a:xfrm>
            <a:off x="393192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2000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2651760" cy="3886200"/>
          </a:xfrm>
          <a:prstGeom prst="rect">
            <a:avLst/>
          </a:prstGeom>
          <a:ln w="31750">
            <a:solidFill>
              <a:srgbClr val="C8A15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4526280"/>
            <a:ext cx="26517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王会悟</a:t>
            </a:r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2651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李达夫人 · 嘉兴人</a:t>
            </a:r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3931920" y="1783080"/>
            <a:ext cx="740664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把会议转移到南湖，就是她的提议。她在船头放哨，一条汽艇驶过，她疑心是警情，赶紧发暗号——船舱里立刻响起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一片麻将声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  <p:sp>
        <p:nvSpPr>
          <p:cNvPr id="12" name="Rounded Rectangle 11"/>
          <p:cNvSpPr/>
          <p:nvPr/>
        </p:nvSpPr>
        <p:spPr>
          <a:xfrm>
            <a:off x="3931920" y="3108960"/>
            <a:ext cx="7406640" cy="192024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3200400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我的感悟</a:t>
            </a:r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160520" y="3611880"/>
            <a:ext cx="6995160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那么大的事，是从一条小船里开始的，是从一个放哨的人、一个提议的人开始的。</a:t>
            </a:r>
            <a:r>
              <a:rPr sz="2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各人做好自己那一份，事情才成。</a:t>
            </a:r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3931920" y="5120640"/>
            <a:ext cx="740664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育人也是一样：学生的成长，靠的不是一次大会、一场活动，而是</a:t>
            </a: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班级、宿舍这些最小单元里一次次的关注</a:t>
            </a: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976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74920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做那个</a:t>
            </a:r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“放哨的人”</a:t>
            </a:r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4754880" y="384048"/>
            <a:ext cx="6583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 · 体会与行动</a:t>
            </a:r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754880" y="749808"/>
            <a:ext cx="65836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大事从小事里长出来</a:t>
            </a:r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475488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828800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2918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看到同学情绪不对</a:t>
            </a:r>
            <a:endParaRPr sz="2200"/>
          </a:p>
        </p:txBody>
      </p:sp>
      <p:sp>
        <p:nvSpPr>
          <p:cNvPr id="10" name="Right Arrow 9"/>
          <p:cNvSpPr/>
          <p:nvPr/>
        </p:nvSpPr>
        <p:spPr>
          <a:xfrm>
            <a:off x="8183879" y="2029968"/>
            <a:ext cx="502920" cy="384048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828800"/>
            <a:ext cx="25146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主动问一句</a:t>
            </a:r>
            <a:endParaRPr sz="2400"/>
          </a:p>
        </p:txBody>
      </p:sp>
      <p:sp>
        <p:nvSpPr>
          <p:cNvPr id="13" name="Rounded Rectangle 12"/>
          <p:cNvSpPr/>
          <p:nvPr/>
        </p:nvSpPr>
        <p:spPr>
          <a:xfrm>
            <a:off x="4754880" y="2788920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788920"/>
            <a:ext cx="32918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看到室友遇到困难</a:t>
            </a:r>
            <a:endParaRPr sz="2200"/>
          </a:p>
        </p:txBody>
      </p:sp>
      <p:sp>
        <p:nvSpPr>
          <p:cNvPr id="15" name="Right Arrow 14"/>
          <p:cNvSpPr/>
          <p:nvPr/>
        </p:nvSpPr>
        <p:spPr>
          <a:xfrm>
            <a:off x="8183879" y="2990088"/>
            <a:ext cx="502920" cy="384048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60" y="278892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788920"/>
            <a:ext cx="25146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伸手帮一把</a:t>
            </a:r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4754880" y="3749039"/>
            <a:ext cx="65836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大事往往就是从这些小事里长出来的。</a:t>
            </a:r>
            <a:endParaRPr sz="2400"/>
          </a:p>
        </p:txBody>
      </p:sp>
      <p:sp>
        <p:nvSpPr>
          <p:cNvPr id="19" name="Rounded Rectangle 18"/>
          <p:cNvSpPr/>
          <p:nvPr/>
        </p:nvSpPr>
        <p:spPr>
          <a:xfrm>
            <a:off x="4754880" y="4480560"/>
            <a:ext cx="6583680" cy="16459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4553712"/>
            <a:ext cx="62179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回到工作：育人说到底要走心</a:t>
            </a:r>
            <a:endParaRPr sz="2200"/>
          </a:p>
        </p:txBody>
      </p:sp>
      <p:sp>
        <p:nvSpPr>
          <p:cNvPr id="21" name="TextBox 20"/>
          <p:cNvSpPr txBox="1"/>
          <p:nvPr/>
        </p:nvSpPr>
        <p:spPr>
          <a:xfrm>
            <a:off x="4983480" y="4983480"/>
            <a:ext cx="621792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行走的党日，让学生看得见党员；党员联系学生，谈心有记录、有跟进，不走过场。我带头：学习体会先在党员中交流，不另起一套。</a:t>
            </a:r>
            <a:endParaRPr sz="2200"/>
          </a:p>
        </p:txBody>
      </p:sp>
      <p:sp>
        <p:nvSpPr>
          <p:cNvPr id="22" name="TextBox 21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53535" cy="265176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0"/>
            <a:ext cx="4053535" cy="265176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0"/>
            <a:ext cx="4053535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606040"/>
            <a:ext cx="1127729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山河在望  坐标在心</a:t>
            </a:r>
            <a:endParaRPr sz="5400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7295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在自己的坐标上，写好属于我们这一代人的那一笔</a:t>
            </a:r>
            <a:endParaRPr sz="2600"/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7295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同学们：认真实训 · 彼此包容 · 直面挫折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老师们：把每一件小事做细做实，守好自己那一份</a:t>
            </a:r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77295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这三个坐标里，哪一个最触动你？</a:t>
            </a:r>
            <a:endParaRPr sz="2600"/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77295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图片来源</a:t>
            </a:r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北大红楼：N509FZ，CC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中共一大会址：ScareCriterion12，CC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南湖红船：ScareCriterion12，CC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南湖红船（侧面）：钉钉，CC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毛泽东（1919年）：佚名，Public domain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早年的北大红楼：佚名，Public domain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望志路106号门牌：N509FZ，CC BY-SA 4.0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中共一大会址石库门：Can Pac Swire from Toronto, Canada，CC BY-SA 2.0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王会悟：佚名，Public domain</a:t>
            </a:r>
            <a:endParaRPr sz="2000"/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南湖岸边的红船：Siyuwj，CC BY-SA 4.0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以上图片均来自 Wikimedia Commons，按原许可协议使用。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